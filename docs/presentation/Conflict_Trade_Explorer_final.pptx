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45" d="100"/>
          <a:sy n="145" d="100"/>
        </p:scale>
        <p:origin x="114" y="102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188720" y="438912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1B998B"/>
                </a:solidFill>
              </a:rPr>
              <a:t>DROP Inc  ·  Applied Data Visualisation 2026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1097280"/>
            <a:ext cx="822960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5200" b="1" dirty="0">
                <a:solidFill>
                  <a:srgbClr val="FFFFFF"/>
                </a:solidFill>
              </a:rPr>
              <a:t>Geopolitical Conflict</a:t>
            </a:r>
            <a:endParaRPr lang="en-US" sz="5200" dirty="0"/>
          </a:p>
          <a:p>
            <a:pPr marL="0" indent="0" algn="ctr">
              <a:buNone/>
            </a:pPr>
            <a:r>
              <a:rPr lang="en-US" sz="5200" b="1" dirty="0">
                <a:solidFill>
                  <a:srgbClr val="FFFFFF"/>
                </a:solidFill>
              </a:rPr>
              <a:t>&amp; Trade Explorer</a:t>
            </a:r>
            <a:endParaRPr lang="en-US" sz="5200" dirty="0"/>
          </a:p>
        </p:txBody>
      </p:sp>
      <p:sp>
        <p:nvSpPr>
          <p:cNvPr id="5" name="Text 2"/>
          <p:cNvSpPr/>
          <p:nvPr/>
        </p:nvSpPr>
        <p:spPr>
          <a:xfrm>
            <a:off x="731520" y="3337560"/>
            <a:ext cx="7680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i="1" dirty="0">
                <a:solidFill>
                  <a:srgbClr val="8FA3B1"/>
                </a:solidFill>
              </a:rPr>
              <a:t>How war, trade and military spending are connected — and what the data reveals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solidFill>
            <a:srgbClr val="1C3A52"/>
          </a:solidFill>
          <a:ln w="12700">
            <a:solidFill>
              <a:srgbClr val="1C3A52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7" name="Text 4"/>
          <p:cNvSpPr/>
          <p:nvPr/>
        </p:nvSpPr>
        <p:spPr>
          <a:xfrm>
            <a:off x="457200" y="475488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B998B"/>
                </a:solidFill>
              </a:rPr>
              <a:t>conflict-and-trade-explorer.streamlit.app</a:t>
            </a:r>
            <a:endParaRPr lang="en-US" sz="1100" dirty="0"/>
          </a:p>
        </p:txBody>
      </p:sp>
      <p:pic>
        <p:nvPicPr>
          <p:cNvPr id="8" name="Image 0" descr="preencoded.png">
            <a:extLst>
              <a:ext uri="{FF2B5EF4-FFF2-40B4-BE49-F238E27FC236}">
                <a16:creationId xmlns:a16="http://schemas.microsoft.com/office/drawing/2014/main" id="{3ECEA51E-7724-E5EC-0C4F-30EF4148B81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388620"/>
            <a:ext cx="640080" cy="64008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56032"/>
            <a:ext cx="2377440" cy="301752"/>
          </a:xfrm>
          <a:prstGeom prst="roundRect">
            <a:avLst>
              <a:gd name="adj" fmla="val 15152"/>
            </a:avLst>
          </a:prstGeom>
          <a:solidFill>
            <a:srgbClr val="1B998B"/>
          </a:solidFill>
          <a:ln w="12700">
            <a:solidFill>
              <a:srgbClr val="1B998B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3" name="Text 1"/>
          <p:cNvSpPr/>
          <p:nvPr/>
        </p:nvSpPr>
        <p:spPr>
          <a:xfrm>
            <a:off x="457200" y="256032"/>
            <a:ext cx="23774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TOPIC &amp; GOAL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68580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0D1B2A"/>
                </a:solidFill>
              </a:rPr>
              <a:t>What </a:t>
            </a:r>
            <a:r>
              <a:rPr lang="en-US" sz="3400" b="1">
                <a:solidFill>
                  <a:srgbClr val="0D1B2A"/>
                </a:solidFill>
              </a:rPr>
              <a:t>we built </a:t>
            </a:r>
            <a:r>
              <a:rPr lang="en-US" sz="3400" b="1" dirty="0">
                <a:solidFill>
                  <a:srgbClr val="0D1B2A"/>
                </a:solidFill>
              </a:rPr>
              <a:t>and why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365760" y="1508760"/>
            <a:ext cx="2651760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BE6"/>
            </a:solidFill>
            <a:prstDash val="solid"/>
          </a:ln>
          <a:effectLst>
            <a:outerShdw blurRad="1270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de-CH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48740" y="1714500"/>
            <a:ext cx="685800" cy="6858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02920" y="2514600"/>
            <a:ext cx="2377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D1B2A"/>
                </a:solidFill>
              </a:rPr>
              <a:t>The Data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530352" y="2944368"/>
            <a:ext cx="233172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3D5A73"/>
                </a:solidFill>
              </a:rPr>
              <a:t>COW Bilateral Trade · COW War Data · SIPRI Military Expenditure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3D5A73"/>
                </a:solidFill>
              </a:rPr>
              <a:t>Three major datasets historically unconnected for analysts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3200400" y="1508760"/>
            <a:ext cx="2651760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BE6"/>
            </a:solidFill>
            <a:prstDash val="solid"/>
          </a:ln>
          <a:effectLst>
            <a:outerShdw blurRad="1270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de-CH"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83380" y="1714500"/>
            <a:ext cx="685800" cy="68580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3337560" y="2514600"/>
            <a:ext cx="2377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D1B2A"/>
                </a:solidFill>
              </a:rPr>
              <a:t>The Question</a:t>
            </a:r>
            <a:endParaRPr lang="en-US" sz="1500" dirty="0"/>
          </a:p>
        </p:txBody>
      </p:sp>
      <p:sp>
        <p:nvSpPr>
          <p:cNvPr id="12" name="Text 8"/>
          <p:cNvSpPr/>
          <p:nvPr/>
        </p:nvSpPr>
        <p:spPr>
          <a:xfrm>
            <a:off x="3364992" y="2944368"/>
            <a:ext cx="233172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3D5A73"/>
                </a:solidFill>
              </a:rPr>
              <a:t>How do military spending, bilateral trade and conflict involvement interact across time for any given country or war?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6035040" y="1508760"/>
            <a:ext cx="2651760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BE6"/>
            </a:solidFill>
            <a:prstDash val="solid"/>
          </a:ln>
          <a:effectLst>
            <a:outerShdw blurRad="1270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de-CH"/>
          </a:p>
        </p:txBody>
      </p:sp>
      <p:sp>
        <p:nvSpPr>
          <p:cNvPr id="15" name="Text 10"/>
          <p:cNvSpPr/>
          <p:nvPr/>
        </p:nvSpPr>
        <p:spPr>
          <a:xfrm>
            <a:off x="6172200" y="2514600"/>
            <a:ext cx="2377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D1B2A"/>
                </a:solidFill>
              </a:rPr>
              <a:t>The Product</a:t>
            </a:r>
            <a:endParaRPr lang="en-US" sz="1500" dirty="0"/>
          </a:p>
        </p:txBody>
      </p:sp>
      <p:sp>
        <p:nvSpPr>
          <p:cNvPr id="16" name="Text 11"/>
          <p:cNvSpPr/>
          <p:nvPr/>
        </p:nvSpPr>
        <p:spPr>
          <a:xfrm>
            <a:off x="6199632" y="2944368"/>
            <a:ext cx="233172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3D5A73"/>
                </a:solidFill>
              </a:rPr>
              <a:t>A single interactive dashboard: search by State or Conflict, filter by time, explore network and trend views</a:t>
            </a:r>
            <a:endParaRPr lang="en-US" sz="1200" dirty="0"/>
          </a:p>
        </p:txBody>
      </p:sp>
      <p:pic>
        <p:nvPicPr>
          <p:cNvPr id="17" name="Image 2" descr="preencoded.png">
            <a:extLst>
              <a:ext uri="{FF2B5EF4-FFF2-40B4-BE49-F238E27FC236}">
                <a16:creationId xmlns:a16="http://schemas.microsoft.com/office/drawing/2014/main" id="{FE0E3E4F-D3FE-B5A6-4ADF-97C55E152D7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18020" y="1714500"/>
            <a:ext cx="685800" cy="6858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56032"/>
            <a:ext cx="2011680" cy="292608"/>
          </a:xfrm>
          <a:prstGeom prst="roundRect">
            <a:avLst>
              <a:gd name="adj" fmla="val 15625"/>
            </a:avLst>
          </a:prstGeom>
          <a:solidFill>
            <a:srgbClr val="1B998B"/>
          </a:solidFill>
          <a:ln w="12700">
            <a:solidFill>
              <a:srgbClr val="1B998B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3" name="Text 1"/>
          <p:cNvSpPr/>
          <p:nvPr/>
        </p:nvSpPr>
        <p:spPr>
          <a:xfrm>
            <a:off x="457200" y="2560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TARGET GROUP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68580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</a:rPr>
              <a:t>One tool - two very different users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411480" y="1417320"/>
            <a:ext cx="3977640" cy="3337560"/>
          </a:xfrm>
          <a:prstGeom prst="rect">
            <a:avLst/>
          </a:prstGeom>
          <a:solidFill>
            <a:srgbClr val="1C3A52"/>
          </a:solidFill>
          <a:ln w="12700">
            <a:solidFill>
              <a:srgbClr val="1C3A52"/>
            </a:solidFill>
            <a:prstDash val="solid"/>
          </a:ln>
          <a:effectLst>
            <a:outerShdw blurRad="1270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de-CH"/>
          </a:p>
        </p:txBody>
      </p:sp>
      <p:sp>
        <p:nvSpPr>
          <p:cNvPr id="7" name="Text 4"/>
          <p:cNvSpPr/>
          <p:nvPr/>
        </p:nvSpPr>
        <p:spPr>
          <a:xfrm>
            <a:off x="594360" y="2286000"/>
            <a:ext cx="3566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Sarah, 38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594360" y="2633472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B998B"/>
                </a:solidFill>
              </a:rPr>
              <a:t>Senior Policy Analyst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594360" y="3017520"/>
            <a:ext cx="356616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8EDF2"/>
                </a:solidFill>
              </a:rPr>
              <a:t>Needs: </a:t>
            </a:r>
            <a:r>
              <a:rPr lang="en-US" sz="1200" dirty="0">
                <a:solidFill>
                  <a:srgbClr val="8FA3B1"/>
                </a:solidFill>
              </a:rPr>
              <a:t>instant overview of a conflict for a ministerial briefing
</a:t>
            </a:r>
            <a:r>
              <a:rPr lang="en-US" sz="1200" b="1" dirty="0">
                <a:solidFill>
                  <a:srgbClr val="E8EDF2"/>
                </a:solidFill>
              </a:rPr>
              <a:t>Pain: </a:t>
            </a:r>
            <a:r>
              <a:rPr lang="en-US" sz="1200" dirty="0">
                <a:solidFill>
                  <a:srgbClr val="8FA3B1"/>
                </a:solidFill>
              </a:rPr>
              <a:t>manually merging COW + SIPRI + Comtrade CSVs
</a:t>
            </a:r>
            <a:r>
              <a:rPr lang="en-US" sz="1200" b="1" dirty="0">
                <a:solidFill>
                  <a:srgbClr val="E8EDF2"/>
                </a:solidFill>
              </a:rPr>
              <a:t>Gain: </a:t>
            </a:r>
            <a:r>
              <a:rPr lang="en-US" sz="1200" dirty="0">
                <a:solidFill>
                  <a:srgbClr val="8FA3B1"/>
                </a:solidFill>
              </a:rPr>
              <a:t>a ready-made conflict narrative in minutes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4754880" y="1417320"/>
            <a:ext cx="3977640" cy="3337560"/>
          </a:xfrm>
          <a:prstGeom prst="rect">
            <a:avLst/>
          </a:prstGeom>
          <a:solidFill>
            <a:srgbClr val="1C3A52"/>
          </a:solidFill>
          <a:ln w="12700">
            <a:solidFill>
              <a:srgbClr val="1C3A52"/>
            </a:solidFill>
            <a:prstDash val="solid"/>
          </a:ln>
          <a:effectLst>
            <a:outerShdw blurRad="1270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de-CH"/>
          </a:p>
        </p:txBody>
      </p:sp>
      <p:sp>
        <p:nvSpPr>
          <p:cNvPr id="12" name="Text 8"/>
          <p:cNvSpPr/>
          <p:nvPr/>
        </p:nvSpPr>
        <p:spPr>
          <a:xfrm>
            <a:off x="4937760" y="2286000"/>
            <a:ext cx="3566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Marco, 31</a:t>
            </a:r>
            <a:endParaRPr lang="en-US" sz="1800" dirty="0"/>
          </a:p>
        </p:txBody>
      </p:sp>
      <p:sp>
        <p:nvSpPr>
          <p:cNvPr id="13" name="Text 9"/>
          <p:cNvSpPr/>
          <p:nvPr/>
        </p:nvSpPr>
        <p:spPr>
          <a:xfrm>
            <a:off x="4937760" y="2633472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E8C547"/>
                </a:solidFill>
              </a:rPr>
              <a:t>Investigative Data Journalist</a:t>
            </a:r>
            <a:endParaRPr lang="en-US" sz="1200" dirty="0"/>
          </a:p>
        </p:txBody>
      </p:sp>
      <p:sp>
        <p:nvSpPr>
          <p:cNvPr id="14" name="Text 10"/>
          <p:cNvSpPr/>
          <p:nvPr/>
        </p:nvSpPr>
        <p:spPr>
          <a:xfrm>
            <a:off x="4937760" y="3017520"/>
            <a:ext cx="356616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8EDF2"/>
                </a:solidFill>
              </a:rPr>
              <a:t>Needs: </a:t>
            </a:r>
            <a:r>
              <a:rPr lang="en-US" sz="1200" dirty="0">
                <a:solidFill>
                  <a:srgbClr val="8FA3B1"/>
                </a:solidFill>
              </a:rPr>
              <a:t>spot trade anomalies and back stories with hard data
</a:t>
            </a:r>
            <a:r>
              <a:rPr lang="en-US" sz="1200" b="1" dirty="0">
                <a:solidFill>
                  <a:srgbClr val="E8EDF2"/>
                </a:solidFill>
              </a:rPr>
              <a:t>Pain: </a:t>
            </a:r>
            <a:r>
              <a:rPr lang="en-US" sz="1200" dirty="0">
                <a:solidFill>
                  <a:srgbClr val="8FA3B1"/>
                </a:solidFill>
              </a:rPr>
              <a:t>official portals are impossible to navigate without coding
</a:t>
            </a:r>
            <a:r>
              <a:rPr lang="en-US" sz="1200" b="1" dirty="0">
                <a:solidFill>
                  <a:srgbClr val="E8EDF2"/>
                </a:solidFill>
              </a:rPr>
              <a:t>Gain: </a:t>
            </a:r>
            <a:r>
              <a:rPr lang="en-US" sz="1200" dirty="0">
                <a:solidFill>
                  <a:srgbClr val="8FA3B1"/>
                </a:solidFill>
              </a:rPr>
              <a:t>from hypothesis to citable finding — no IT support needed</a:t>
            </a:r>
            <a:endParaRPr lang="en-US" sz="1200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1578129"/>
            <a:ext cx="548640" cy="548640"/>
          </a:xfrm>
          <a:prstGeom prst="rect">
            <a:avLst/>
          </a:prstGeom>
        </p:spPr>
      </p:pic>
      <p:pic>
        <p:nvPicPr>
          <p:cNvPr id="16" name="Image 0" descr="preencoded.png">
            <a:extLst>
              <a:ext uri="{FF2B5EF4-FFF2-40B4-BE49-F238E27FC236}">
                <a16:creationId xmlns:a16="http://schemas.microsoft.com/office/drawing/2014/main" id="{2423AE46-C9C6-F6E6-9BA2-EC7B24073F1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03120" y="1578129"/>
            <a:ext cx="548640" cy="54864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56032"/>
            <a:ext cx="2377440" cy="301752"/>
          </a:xfrm>
          <a:prstGeom prst="roundRect">
            <a:avLst>
              <a:gd name="adj" fmla="val 15152"/>
            </a:avLst>
          </a:prstGeom>
          <a:solidFill>
            <a:srgbClr val="1B998B"/>
          </a:solidFill>
          <a:ln w="12700">
            <a:solidFill>
              <a:srgbClr val="1B998B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3" name="Text 1"/>
          <p:cNvSpPr/>
          <p:nvPr/>
        </p:nvSpPr>
        <p:spPr>
          <a:xfrm>
            <a:off x="457200" y="256032"/>
            <a:ext cx="23774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NARRATIVE &amp; FEEDBACK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68580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D1B2A"/>
                </a:solidFill>
              </a:rPr>
              <a:t>How we tell this story today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411480" y="1417320"/>
            <a:ext cx="4160520" cy="3337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BE6"/>
            </a:solidFill>
            <a:prstDash val="solid"/>
          </a:ln>
          <a:effectLst>
            <a:outerShdw blurRad="1270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de-CH"/>
          </a:p>
        </p:txBody>
      </p:sp>
      <p:sp>
        <p:nvSpPr>
          <p:cNvPr id="6" name="Text 4"/>
          <p:cNvSpPr/>
          <p:nvPr/>
        </p:nvSpPr>
        <p:spPr>
          <a:xfrm>
            <a:off x="594360" y="1600200"/>
            <a:ext cx="3749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D1B2A"/>
                </a:solidFill>
              </a:rPr>
              <a:t>Narrative Approach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40080" y="2103120"/>
            <a:ext cx="3749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1B2A"/>
                </a:solidFill>
              </a:rPr>
              <a:t>🎭 Persona Dramatisation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40080" y="2359152"/>
            <a:ext cx="3749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A6572"/>
                </a:solidFill>
              </a:rPr>
              <a:t>We follow Marco live through the dashboard — his hypothesis drives every click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40080" y="2779776"/>
            <a:ext cx="3749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1B2A"/>
                </a:solidFill>
              </a:rPr>
              <a:t>📖 Two-Act Structure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40080" y="3035808"/>
            <a:ext cx="3749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A6572"/>
                </a:solidFill>
              </a:rPr>
              <a:t>Act 1: Iraq War trade </a:t>
            </a:r>
            <a:r>
              <a:rPr lang="en-US" sz="1100">
                <a:solidFill>
                  <a:srgbClr val="4A6572"/>
                </a:solidFill>
              </a:rPr>
              <a:t>collapse 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4A6572"/>
                </a:solidFill>
              </a:rPr>
              <a:t>Act 2: India–Pakistan arms &amp; trade paradox 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40080" y="3456432"/>
            <a:ext cx="3749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1B2A"/>
                </a:solidFill>
              </a:rPr>
              <a:t>🔍 Overview → Zoom → Detail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640080" y="3712464"/>
            <a:ext cx="3749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A6572"/>
                </a:solidFill>
              </a:rPr>
              <a:t>Each act mirrors the Shneiderman mantra built into the dashboard itself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754880" y="1417320"/>
            <a:ext cx="3977640" cy="333756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  <a:effectLst>
            <a:outerShdw blurRad="1270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de-CH"/>
          </a:p>
        </p:txBody>
      </p:sp>
      <p:sp>
        <p:nvSpPr>
          <p:cNvPr id="16" name="Text 14"/>
          <p:cNvSpPr/>
          <p:nvPr/>
        </p:nvSpPr>
        <p:spPr>
          <a:xfrm>
            <a:off x="4937760" y="1600200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</a:rPr>
              <a:t>We want your feedback on…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4937760" y="2084832"/>
            <a:ext cx="3566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998B"/>
                </a:solidFill>
              </a:rPr>
              <a:t>① Visual Encoding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937760" y="2340864"/>
            <a:ext cx="3566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GB" sz="1100" dirty="0">
                <a:solidFill>
                  <a:srgbClr val="8FA3B1"/>
                </a:solidFill>
              </a:rPr>
              <a:t>Is our combined trade and military chart easy to read at first glance?</a:t>
            </a:r>
            <a:endParaRPr lang="en-US" sz="1100" dirty="0">
              <a:solidFill>
                <a:srgbClr val="8FA3B1"/>
              </a:solidFill>
            </a:endParaRPr>
          </a:p>
        </p:txBody>
      </p:sp>
      <p:sp>
        <p:nvSpPr>
          <p:cNvPr id="19" name="Text 17"/>
          <p:cNvSpPr/>
          <p:nvPr/>
        </p:nvSpPr>
        <p:spPr>
          <a:xfrm>
            <a:off x="4937760" y="2761488"/>
            <a:ext cx="3566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998B"/>
                </a:solidFill>
              </a:rPr>
              <a:t>② Navigation Flow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937760" y="3017520"/>
            <a:ext cx="3566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FA3B1"/>
                </a:solidFill>
              </a:rPr>
              <a:t>Is the State vs. Conflict toggle intuitive for a first-time user?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4937760" y="3438144"/>
            <a:ext cx="3566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998B"/>
                </a:solidFill>
              </a:rPr>
              <a:t>③ Missing Data UX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4937760" y="3694176"/>
            <a:ext cx="3566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FA3B1"/>
                </a:solidFill>
              </a:rPr>
              <a:t>Are gaps in the data handled transparently enough for academic use?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56032"/>
            <a:ext cx="2011680" cy="292608"/>
          </a:xfrm>
          <a:prstGeom prst="roundRect">
            <a:avLst>
              <a:gd name="adj" fmla="val 15625"/>
            </a:avLst>
          </a:prstGeom>
          <a:solidFill>
            <a:srgbClr val="1B998B"/>
          </a:solidFill>
          <a:ln w="12700">
            <a:solidFill>
              <a:srgbClr val="1B998B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3" name="Text 1"/>
          <p:cNvSpPr/>
          <p:nvPr/>
        </p:nvSpPr>
        <p:spPr>
          <a:xfrm>
            <a:off x="457200" y="2560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THE PROBLEM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640080"/>
            <a:ext cx="475488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</a:rPr>
              <a:t>The data exists.</a:t>
            </a:r>
            <a:endParaRPr lang="en-US" sz="3600" dirty="0"/>
          </a:p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</a:rPr>
              <a:t>The insight doesn't.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457200" y="219456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8FA3B1"/>
                </a:solidFill>
              </a:rPr>
              <a:t>Three major academic datasets - all public, all separate, none designed to talk to each other.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57200" y="3017520"/>
            <a:ext cx="4023360" cy="475488"/>
          </a:xfrm>
          <a:prstGeom prst="rect">
            <a:avLst/>
          </a:prstGeom>
          <a:solidFill>
            <a:srgbClr val="1C3A52"/>
          </a:solidFill>
          <a:ln w="12700">
            <a:solidFill>
              <a:srgbClr val="1C3A52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7" name="Shape 5"/>
          <p:cNvSpPr/>
          <p:nvPr/>
        </p:nvSpPr>
        <p:spPr>
          <a:xfrm>
            <a:off x="457200" y="3017520"/>
            <a:ext cx="91440" cy="475488"/>
          </a:xfrm>
          <a:prstGeom prst="rect">
            <a:avLst/>
          </a:prstGeom>
          <a:solidFill>
            <a:srgbClr val="1B998B"/>
          </a:solidFill>
          <a:ln w="12700">
            <a:solidFill>
              <a:srgbClr val="1B998B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8" name="Text 6"/>
          <p:cNvSpPr/>
          <p:nvPr/>
        </p:nvSpPr>
        <p:spPr>
          <a:xfrm>
            <a:off x="685800" y="3044952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</a:rPr>
              <a:t>COW Bilateral Trade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85800" y="3273552"/>
            <a:ext cx="3200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FA3B1"/>
                </a:solidFill>
              </a:rPr>
              <a:t>Trade flows since 1870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57200" y="3611880"/>
            <a:ext cx="4023360" cy="475488"/>
          </a:xfrm>
          <a:prstGeom prst="rect">
            <a:avLst/>
          </a:prstGeom>
          <a:solidFill>
            <a:srgbClr val="1C3A52"/>
          </a:solidFill>
          <a:ln w="12700">
            <a:solidFill>
              <a:srgbClr val="1C3A52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11" name="Shape 9"/>
          <p:cNvSpPr/>
          <p:nvPr/>
        </p:nvSpPr>
        <p:spPr>
          <a:xfrm>
            <a:off x="457200" y="3611880"/>
            <a:ext cx="91440" cy="475488"/>
          </a:xfrm>
          <a:prstGeom prst="rect">
            <a:avLst/>
          </a:prstGeom>
          <a:solidFill>
            <a:srgbClr val="E8C547"/>
          </a:solidFill>
          <a:ln w="12700">
            <a:solidFill>
              <a:srgbClr val="E8C547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12" name="Text 10"/>
          <p:cNvSpPr/>
          <p:nvPr/>
        </p:nvSpPr>
        <p:spPr>
          <a:xfrm>
            <a:off x="685800" y="3639312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</a:rPr>
              <a:t>COW War Data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85800" y="3867912"/>
            <a:ext cx="3200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FA3B1"/>
                </a:solidFill>
              </a:rPr>
              <a:t>Every interstate war since 1816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57200" y="4206240"/>
            <a:ext cx="4023360" cy="475488"/>
          </a:xfrm>
          <a:prstGeom prst="rect">
            <a:avLst/>
          </a:prstGeom>
          <a:solidFill>
            <a:srgbClr val="1C3A52"/>
          </a:solidFill>
          <a:ln w="12700">
            <a:solidFill>
              <a:srgbClr val="1C3A52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15" name="Shape 13"/>
          <p:cNvSpPr/>
          <p:nvPr/>
        </p:nvSpPr>
        <p:spPr>
          <a:xfrm>
            <a:off x="457200" y="4206240"/>
            <a:ext cx="91440" cy="475488"/>
          </a:xfrm>
          <a:prstGeom prst="rect">
            <a:avLst/>
          </a:prstGeom>
          <a:solidFill>
            <a:srgbClr val="7B9EBE"/>
          </a:solidFill>
          <a:ln w="12700">
            <a:solidFill>
              <a:srgbClr val="7B9EBE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16" name="Text 14"/>
          <p:cNvSpPr/>
          <p:nvPr/>
        </p:nvSpPr>
        <p:spPr>
          <a:xfrm>
            <a:off x="685800" y="4233672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</a:rPr>
              <a:t>SIPRI Military Exp.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85800" y="4462272"/>
            <a:ext cx="3200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FA3B1"/>
                </a:solidFill>
              </a:rPr>
              <a:t>Defence budgets post-WWII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5029200" y="68580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998B"/>
                </a:solidFill>
              </a:rPr>
              <a:t>What analysts do today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5029200" y="1188720"/>
            <a:ext cx="37490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E8EDF2"/>
                </a:solidFill>
              </a:rPr>
              <a:t>1.  Download 3 separate CSVs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5029200" y="1755648"/>
            <a:ext cx="37490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E8EDF2"/>
                </a:solidFill>
              </a:rPr>
              <a:t>2.  Manually match country codes (COW ≠ ISO)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029200" y="2322576"/>
            <a:ext cx="37490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E8EDF2"/>
                </a:solidFill>
              </a:rPr>
              <a:t>3.  Build custom scripts just to join tables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029200" y="2889504"/>
            <a:ext cx="37490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E8EDF2"/>
                </a:solidFill>
              </a:rPr>
              <a:t>4.  Repeat for every new question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5029200" y="3456432"/>
            <a:ext cx="37490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8C547"/>
                </a:solidFill>
              </a:rPr>
              <a:t>5.  No time left for actual analysis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4937760" y="1097280"/>
            <a:ext cx="54864" cy="3200400"/>
          </a:xfrm>
          <a:prstGeom prst="rect">
            <a:avLst/>
          </a:prstGeom>
          <a:solidFill>
            <a:srgbClr val="1B998B"/>
          </a:solidFill>
          <a:ln w="12700">
            <a:solidFill>
              <a:srgbClr val="1B998B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56032"/>
            <a:ext cx="2011680" cy="292608"/>
          </a:xfrm>
          <a:prstGeom prst="roundRect">
            <a:avLst>
              <a:gd name="adj" fmla="val 15625"/>
            </a:avLst>
          </a:prstGeom>
          <a:solidFill>
            <a:srgbClr val="1B998B"/>
          </a:solidFill>
          <a:ln w="12700">
            <a:solidFill>
              <a:srgbClr val="1B998B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3" name="Text 1"/>
          <p:cNvSpPr/>
          <p:nvPr/>
        </p:nvSpPr>
        <p:spPr>
          <a:xfrm>
            <a:off x="457200" y="2560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MEET MARCO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658368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B998B"/>
                </a:solidFill>
              </a:rPr>
              <a:t>Marco has a hypothesis.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11480" y="1234440"/>
            <a:ext cx="8321040" cy="1371600"/>
          </a:xfrm>
          <a:prstGeom prst="rect">
            <a:avLst/>
          </a:prstGeom>
          <a:solidFill>
            <a:srgbClr val="1C3A52"/>
          </a:solidFill>
          <a:ln w="12700">
            <a:solidFill>
              <a:srgbClr val="E8C547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7" name="Text 5"/>
          <p:cNvSpPr/>
          <p:nvPr/>
        </p:nvSpPr>
        <p:spPr>
          <a:xfrm>
            <a:off x="594360" y="132588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200" dirty="0">
                <a:solidFill>
                  <a:srgbClr val="E8C547"/>
                </a:solidFill>
              </a:rPr>
              <a:t>ACT 1  ·  IRAQ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94360" y="1627632"/>
            <a:ext cx="7863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i="1" dirty="0">
                <a:solidFill>
                  <a:srgbClr val="FFFFFF"/>
                </a:solidFill>
              </a:rPr>
              <a:t>“The Gulf War (1990–91) shattered Iraq’s trade network overnight.</a:t>
            </a:r>
            <a:endParaRPr lang="en-US" sz="1700" dirty="0"/>
          </a:p>
          <a:p>
            <a:pPr marL="0" indent="0">
              <a:buNone/>
            </a:pPr>
            <a:r>
              <a:rPr lang="en-US" sz="1700" i="1" dirty="0">
                <a:solidFill>
                  <a:srgbClr val="FFFFFF"/>
                </a:solidFill>
              </a:rPr>
              <a:t>But which countries actually stayed? And who left first?”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411480" y="2788920"/>
            <a:ext cx="8321040" cy="1554480"/>
          </a:xfrm>
          <a:prstGeom prst="rect">
            <a:avLst/>
          </a:prstGeom>
          <a:solidFill>
            <a:srgbClr val="1C3A52"/>
          </a:solidFill>
          <a:ln w="12700">
            <a:solidFill>
              <a:srgbClr val="1B998B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10" name="Text 8"/>
          <p:cNvSpPr/>
          <p:nvPr/>
        </p:nvSpPr>
        <p:spPr>
          <a:xfrm>
            <a:off x="594360" y="288036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200" dirty="0">
                <a:solidFill>
                  <a:srgbClr val="1B998B"/>
                </a:solidFill>
              </a:rPr>
              <a:t>ACT 2  ·  INDIA – PAKISTAN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94360" y="3182112"/>
            <a:ext cx="78638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i="1" dirty="0">
                <a:solidFill>
                  <a:srgbClr val="FFFFFF"/>
                </a:solidFill>
              </a:rPr>
              <a:t>“Two nuclear rivals. Three wars. A shared border.</a:t>
            </a:r>
            <a:endParaRPr lang="en-US" sz="1700" dirty="0"/>
          </a:p>
          <a:p>
            <a:pPr marL="0" indent="0">
              <a:buNone/>
            </a:pPr>
            <a:r>
              <a:rPr lang="en-US" sz="1700" i="1" dirty="0">
                <a:solidFill>
                  <a:srgbClr val="FFFFFF"/>
                </a:solidFill>
              </a:rPr>
              <a:t>Both are ramping up military spending in the 1990s — but is trade dying too, or doing something unexpected?”</a:t>
            </a:r>
            <a:endParaRPr lang="en-US" sz="17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56032"/>
            <a:ext cx="2194560" cy="292608"/>
          </a:xfrm>
          <a:prstGeom prst="roundRect">
            <a:avLst>
              <a:gd name="adj" fmla="val 15625"/>
            </a:avLst>
          </a:prstGeom>
          <a:solidFill>
            <a:srgbClr val="1B998B"/>
          </a:solidFill>
          <a:ln w="12700">
            <a:solidFill>
              <a:srgbClr val="1B998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Text 1"/>
          <p:cNvSpPr/>
          <p:nvPr/>
        </p:nvSpPr>
        <p:spPr>
          <a:xfrm>
            <a:off x="457200" y="256032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LIVE DEMO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1005840"/>
            <a:ext cx="822960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5800" b="1" dirty="0">
                <a:solidFill>
                  <a:srgbClr val="FFFFFF"/>
                </a:solidFill>
              </a:rPr>
              <a:t>Over to the</a:t>
            </a:r>
            <a:endParaRPr lang="en-US" sz="5800" dirty="0"/>
          </a:p>
          <a:p>
            <a:pPr marL="0" indent="0" algn="ctr">
              <a:buNone/>
            </a:pPr>
            <a:r>
              <a:rPr lang="en-US" sz="5800" b="1" dirty="0">
                <a:solidFill>
                  <a:srgbClr val="FFFFFF"/>
                </a:solidFill>
              </a:rPr>
              <a:t>Explorer.</a:t>
            </a:r>
            <a:endParaRPr lang="en-US" sz="5800" dirty="0"/>
          </a:p>
        </p:txBody>
      </p:sp>
      <p:sp>
        <p:nvSpPr>
          <p:cNvPr id="5" name="Text 3"/>
          <p:cNvSpPr/>
          <p:nvPr/>
        </p:nvSpPr>
        <p:spPr>
          <a:xfrm>
            <a:off x="914400" y="32004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i="1" dirty="0">
                <a:solidFill>
                  <a:srgbClr val="8FA3B1"/>
                </a:solidFill>
              </a:rPr>
              <a:t>Marco opens the dashboard and runs the search live.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1645920" y="3749040"/>
            <a:ext cx="5303520" cy="868680"/>
          </a:xfrm>
          <a:prstGeom prst="rect">
            <a:avLst/>
          </a:prstGeom>
          <a:solidFill>
            <a:srgbClr val="1C3A52"/>
          </a:solidFill>
          <a:ln w="12700">
            <a:solidFill>
              <a:srgbClr val="1C3A5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" name="Text 5"/>
          <p:cNvSpPr/>
          <p:nvPr/>
        </p:nvSpPr>
        <p:spPr>
          <a:xfrm>
            <a:off x="1645920" y="3749040"/>
            <a:ext cx="53035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B998B"/>
                </a:solidFill>
              </a:rPr>
              <a:t>IRQ + KWT  →  </a:t>
            </a:r>
            <a:r>
              <a:rPr lang="en-US" sz="1300" dirty="0">
                <a:solidFill>
                  <a:srgbClr val="8FA3B1"/>
                </a:solidFill>
              </a:rPr>
              <a:t>find the conflict  →  military exp. + trade charts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56032"/>
            <a:ext cx="2377440" cy="292608"/>
          </a:xfrm>
          <a:prstGeom prst="roundRect">
            <a:avLst>
              <a:gd name="adj" fmla="val 15625"/>
            </a:avLst>
          </a:prstGeom>
          <a:solidFill>
            <a:srgbClr val="1B998B"/>
          </a:solidFill>
          <a:ln w="12700">
            <a:solidFill>
              <a:srgbClr val="1B998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Text 1"/>
          <p:cNvSpPr/>
          <p:nvPr/>
        </p:nvSpPr>
        <p:spPr>
          <a:xfrm>
            <a:off x="457200" y="256032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WHAT THE DATA SHOWS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658368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</a:rPr>
              <a:t>Two conflicts. Two answers. One tool.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411480" y="1389888"/>
            <a:ext cx="3977640" cy="3154680"/>
          </a:xfrm>
          <a:prstGeom prst="rect">
            <a:avLst/>
          </a:prstGeom>
          <a:solidFill>
            <a:srgbClr val="1C3A52"/>
          </a:solidFill>
          <a:ln w="19050">
            <a:solidFill>
              <a:srgbClr val="E8C547"/>
            </a:solidFill>
            <a:prstDash val="solid"/>
          </a:ln>
          <a:effectLst>
            <a:outerShdw blurRad="101600" dist="254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6" name="Text 4"/>
          <p:cNvSpPr/>
          <p:nvPr/>
        </p:nvSpPr>
        <p:spPr>
          <a:xfrm>
            <a:off x="594360" y="1508760"/>
            <a:ext cx="3566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E8C547"/>
                </a:solidFill>
              </a:rPr>
              <a:t>ACT 1  ·  IRAQ / KUWAIT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94360" y="1874520"/>
            <a:ext cx="35661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</a:rPr>
              <a:t>Trade drops to zero —</a:t>
            </a:r>
            <a:endParaRPr lang="en-US" sz="1800" dirty="0"/>
          </a:p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</a:rPr>
              <a:t>and never recovers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594360" y="2633472"/>
            <a:ext cx="3566160" cy="1691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FA3B1"/>
                </a:solidFill>
              </a:rPr>
              <a:t>Kuwait–Iraq trade flatlines permanently after the Gulf War. Military expenditure spikes sharply just before the conflict, then collapses. War as economic rupture — complete and irreversible.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754880" y="1389888"/>
            <a:ext cx="3977640" cy="3154680"/>
          </a:xfrm>
          <a:prstGeom prst="rect">
            <a:avLst/>
          </a:prstGeom>
          <a:solidFill>
            <a:srgbClr val="1C3A52"/>
          </a:solidFill>
          <a:ln w="19050">
            <a:solidFill>
              <a:srgbClr val="1B998B"/>
            </a:solidFill>
            <a:prstDash val="solid"/>
          </a:ln>
          <a:effectLst>
            <a:outerShdw blurRad="101600" dist="254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10" name="Text 8"/>
          <p:cNvSpPr/>
          <p:nvPr/>
        </p:nvSpPr>
        <p:spPr>
          <a:xfrm>
            <a:off x="4937760" y="1508760"/>
            <a:ext cx="3566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1B998B"/>
                </a:solidFill>
              </a:rPr>
              <a:t>ACT 2  ·  INDIA – PAKISTAN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937760" y="1874520"/>
            <a:ext cx="35661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</a:rPr>
              <a:t>Guns AND butter —</a:t>
            </a:r>
            <a:endParaRPr lang="en-US" sz="1800" dirty="0"/>
          </a:p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</a:rPr>
              <a:t>rivals who traded anyway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4937760" y="2633472"/>
            <a:ext cx="3566160" cy="1691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FA3B1"/>
                </a:solidFill>
              </a:rPr>
              <a:t>Both nations arm up through the 1990s — yet bilateral trade quietly climbs from 1996 onward. Even the Kargil war barely interrupts it. War and commerce coexist in ways that defy simple assumptions.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57200" y="468172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1B998B"/>
                </a:solidFill>
              </a:rPr>
              <a:t>The same tool. The same three clicks. Two completely different stories hidden in the data.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56032"/>
            <a:ext cx="2011680" cy="292608"/>
          </a:xfrm>
          <a:prstGeom prst="roundRect">
            <a:avLst>
              <a:gd name="adj" fmla="val 15625"/>
            </a:avLst>
          </a:prstGeom>
          <a:solidFill>
            <a:srgbClr val="1B998B"/>
          </a:solidFill>
          <a:ln w="12700">
            <a:solidFill>
              <a:srgbClr val="1B998B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3" name="Text 1"/>
          <p:cNvSpPr/>
          <p:nvPr/>
        </p:nvSpPr>
        <p:spPr>
          <a:xfrm>
            <a:off x="457200" y="2560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UNDER THE HOOD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658368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</a:rPr>
              <a:t>How the dashboard is built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11480" y="1371600"/>
            <a:ext cx="1234440" cy="777240"/>
          </a:xfrm>
          <a:prstGeom prst="rect">
            <a:avLst/>
          </a:prstGeom>
          <a:solidFill>
            <a:srgbClr val="1C3A52"/>
          </a:solidFill>
          <a:ln w="12700">
            <a:solidFill>
              <a:srgbClr val="1B998B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6" name="Text 4"/>
          <p:cNvSpPr/>
          <p:nvPr/>
        </p:nvSpPr>
        <p:spPr>
          <a:xfrm>
            <a:off x="411480" y="1417320"/>
            <a:ext cx="12344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998B"/>
                </a:solidFill>
              </a:rPr>
              <a:t>COW Trade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1B998B"/>
                </a:solidFill>
              </a:rPr>
              <a:t>CSV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1828800" y="1371600"/>
            <a:ext cx="1234440" cy="777240"/>
          </a:xfrm>
          <a:prstGeom prst="rect">
            <a:avLst/>
          </a:prstGeom>
          <a:solidFill>
            <a:srgbClr val="1C3A52"/>
          </a:solidFill>
          <a:ln w="12700">
            <a:solidFill>
              <a:srgbClr val="E8C547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9" name="Text 7"/>
          <p:cNvSpPr/>
          <p:nvPr/>
        </p:nvSpPr>
        <p:spPr>
          <a:xfrm>
            <a:off x="1828800" y="1417320"/>
            <a:ext cx="12344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E8C547"/>
                </a:solidFill>
              </a:rPr>
              <a:t>COW Wars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E8C547"/>
                </a:solidFill>
              </a:rPr>
              <a:t>CSV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46120" y="1371600"/>
            <a:ext cx="1234440" cy="777240"/>
          </a:xfrm>
          <a:prstGeom prst="rect">
            <a:avLst/>
          </a:prstGeom>
          <a:solidFill>
            <a:srgbClr val="1C3A52"/>
          </a:solidFill>
          <a:ln w="12700">
            <a:solidFill>
              <a:srgbClr val="7B9EBE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12" name="Text 10"/>
          <p:cNvSpPr/>
          <p:nvPr/>
        </p:nvSpPr>
        <p:spPr>
          <a:xfrm>
            <a:off x="3246120" y="1417320"/>
            <a:ext cx="12344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7B9EBE"/>
                </a:solidFill>
              </a:rPr>
              <a:t>SIPRI Mil.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7B9EBE"/>
                </a:solidFill>
              </a:rPr>
              <a:t>Expenditure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2217419" y="2194560"/>
            <a:ext cx="457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8FA3B1"/>
                </a:solidFill>
              </a:rPr>
              <a:t>↓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1828800" y="2601468"/>
            <a:ext cx="1234440" cy="685800"/>
          </a:xfrm>
          <a:prstGeom prst="rect">
            <a:avLst/>
          </a:prstGeom>
          <a:solidFill>
            <a:srgbClr val="1C3A52"/>
          </a:solidFill>
          <a:ln w="12700">
            <a:solidFill>
              <a:srgbClr val="1B998B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15" name="Text 13"/>
          <p:cNvSpPr/>
          <p:nvPr/>
        </p:nvSpPr>
        <p:spPr>
          <a:xfrm>
            <a:off x="1828799" y="2615282"/>
            <a:ext cx="1234441" cy="67198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B998B"/>
                </a:solidFill>
              </a:rPr>
              <a:t>Data Cleaning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1B998B"/>
                </a:solidFill>
              </a:rPr>
              <a:t>&amp; Entity Matching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2240280" y="3337560"/>
            <a:ext cx="457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8FA3B1"/>
                </a:solidFill>
              </a:rPr>
              <a:t>↓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1828800" y="3719733"/>
            <a:ext cx="1234440" cy="658368"/>
          </a:xfrm>
          <a:prstGeom prst="rect">
            <a:avLst/>
          </a:prstGeom>
          <a:solidFill>
            <a:srgbClr val="1C3A52"/>
          </a:solidFill>
          <a:ln w="12700">
            <a:solidFill>
              <a:srgbClr val="7B9EBE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18" name="Text 16"/>
          <p:cNvSpPr/>
          <p:nvPr/>
        </p:nvSpPr>
        <p:spPr>
          <a:xfrm>
            <a:off x="1828800" y="3794760"/>
            <a:ext cx="1234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7B9EBE"/>
                </a:solidFill>
              </a:rPr>
              <a:t>Parquet / Cache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3154680" y="393192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8FA3B1"/>
                </a:solidFill>
              </a:rPr>
              <a:t>→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3520440" y="3719733"/>
            <a:ext cx="1234440" cy="674781"/>
          </a:xfrm>
          <a:prstGeom prst="rect">
            <a:avLst/>
          </a:prstGeom>
          <a:solidFill>
            <a:srgbClr val="1C3A52"/>
          </a:solidFill>
          <a:ln w="12700">
            <a:solidFill>
              <a:srgbClr val="E8C547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21" name="Text 19"/>
          <p:cNvSpPr/>
          <p:nvPr/>
        </p:nvSpPr>
        <p:spPr>
          <a:xfrm>
            <a:off x="3520440" y="3692301"/>
            <a:ext cx="12344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E8C547"/>
                </a:solidFill>
              </a:rPr>
              <a:t>Streamlit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E8C547"/>
                </a:solidFill>
              </a:rPr>
              <a:t>Dashboard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5394960" y="1325880"/>
            <a:ext cx="3383280" cy="3429000"/>
          </a:xfrm>
          <a:prstGeom prst="rect">
            <a:avLst/>
          </a:prstGeom>
          <a:solidFill>
            <a:srgbClr val="1C3A52"/>
          </a:solidFill>
          <a:ln w="12700">
            <a:solidFill>
              <a:srgbClr val="1C3A52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23" name="Text 21"/>
          <p:cNvSpPr/>
          <p:nvPr/>
        </p:nvSpPr>
        <p:spPr>
          <a:xfrm>
            <a:off x="5577840" y="1463040"/>
            <a:ext cx="30175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</a:rPr>
              <a:t>Key Engineering Challenges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577840" y="1965960"/>
            <a:ext cx="3017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998B"/>
                </a:solidFill>
              </a:rPr>
              <a:t>▸ Entity Matching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5577840" y="2221992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FA3B1"/>
                </a:solidFill>
              </a:rPr>
              <a:t>COW State Codes → ISO country codes, required custom mapping table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5577840" y="2670048"/>
            <a:ext cx="3017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998B"/>
                </a:solidFill>
              </a:rPr>
              <a:t>▸ Temporal Mismatch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5577840" y="2926080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FA3B1"/>
                </a:solidFill>
              </a:rPr>
              <a:t>SIPRI starts post-WWII; COW trade goes from 1816 to 2014 triad only possible for overlapping years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5577840" y="3374136"/>
            <a:ext cx="3017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998B"/>
                </a:solidFill>
              </a:rPr>
              <a:t>▸ Performance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5577840" y="363016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FA3B1"/>
                </a:solidFill>
              </a:rPr>
              <a:t>Large bilateral CSVs cached as Parquet; reactive filters avoid full reloads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5577840" y="4078224"/>
            <a:ext cx="3017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998B"/>
                </a:solidFill>
              </a:rPr>
              <a:t>▸ Missing Data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5577840" y="4334256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FA3B1"/>
                </a:solidFill>
              </a:rPr>
              <a:t>Gaps clearly flagged in UI academic honesty over false completeness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00584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5200" b="1" dirty="0">
                <a:solidFill>
                  <a:srgbClr val="FFFFFF"/>
                </a:solidFill>
              </a:rPr>
              <a:t>Try it yourself.</a:t>
            </a:r>
            <a:endParaRPr lang="en-US" sz="5200" dirty="0"/>
          </a:p>
        </p:txBody>
      </p:sp>
      <p:sp>
        <p:nvSpPr>
          <p:cNvPr id="3" name="Shape 1"/>
          <p:cNvSpPr/>
          <p:nvPr/>
        </p:nvSpPr>
        <p:spPr>
          <a:xfrm>
            <a:off x="1828800" y="2103120"/>
            <a:ext cx="5486400" cy="822960"/>
          </a:xfrm>
          <a:prstGeom prst="rect">
            <a:avLst/>
          </a:prstGeom>
          <a:solidFill>
            <a:srgbClr val="1C3A52"/>
          </a:solidFill>
          <a:ln w="12700">
            <a:solidFill>
              <a:srgbClr val="1B998B"/>
            </a:solidFill>
            <a:prstDash val="solid"/>
          </a:ln>
          <a:effectLst>
            <a:outerShdw blurRad="1270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de-CH"/>
          </a:p>
        </p:txBody>
      </p:sp>
      <p:sp>
        <p:nvSpPr>
          <p:cNvPr id="4" name="Text 2"/>
          <p:cNvSpPr/>
          <p:nvPr/>
        </p:nvSpPr>
        <p:spPr>
          <a:xfrm>
            <a:off x="1828800" y="2103120"/>
            <a:ext cx="5486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B998B"/>
                </a:solidFill>
              </a:rPr>
              <a:t>🔗  conflict-and-trade-explorer.streamlit.app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457200" y="31546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8FA3B1"/>
                </a:solidFill>
              </a:rPr>
              <a:t>COW Bilateral Trade · COW War Data · SIPRI Military Expenditure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1371600" y="3657600"/>
            <a:ext cx="6400800" cy="960120"/>
          </a:xfrm>
          <a:prstGeom prst="rect">
            <a:avLst/>
          </a:prstGeom>
          <a:solidFill>
            <a:srgbClr val="1C3A52"/>
          </a:solidFill>
          <a:ln w="12700">
            <a:solidFill>
              <a:srgbClr val="1C3A52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7" name="Text 5"/>
          <p:cNvSpPr/>
          <p:nvPr/>
        </p:nvSpPr>
        <p:spPr>
          <a:xfrm>
            <a:off x="1508760" y="3703320"/>
            <a:ext cx="61264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E8EDF2"/>
                </a:solidFill>
              </a:rPr>
              <a:t>We'd love your feedback on:  </a:t>
            </a:r>
          </a:p>
          <a:p>
            <a:pPr marL="0" indent="0" algn="ctr">
              <a:buNone/>
            </a:pPr>
            <a:r>
              <a:rPr lang="en-US" sz="1200" dirty="0">
                <a:solidFill>
                  <a:srgbClr val="E8EDF2"/>
                </a:solidFill>
              </a:rPr>
              <a:t>Visual encoding clarity · Navigation intuitiveness · Missing data transparency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47548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8FA3B1"/>
                </a:solidFill>
              </a:rPr>
              <a:t>DROP Inc  ·  Applied Data Visualisation 2026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778</Words>
  <Application>Microsoft Office PowerPoint</Application>
  <PresentationFormat>Bildschirmpräsentation (16:9)</PresentationFormat>
  <Paragraphs>110</Paragraphs>
  <Slides>10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2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Monn Aron (monnaro1)</cp:lastModifiedBy>
  <cp:revision>5</cp:revision>
  <dcterms:created xsi:type="dcterms:W3CDTF">2013-01-27T09:14:16Z</dcterms:created>
  <dcterms:modified xsi:type="dcterms:W3CDTF">2026-05-31T09:10:41Z</dcterms:modified>
  <cp:category/>
</cp:coreProperties>
</file>