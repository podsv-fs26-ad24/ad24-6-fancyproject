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38" d="100"/>
          <a:sy n="138" d="100"/>
        </p:scale>
        <p:origin x="834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188720" y="43891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B998B"/>
                </a:solidFill>
              </a:rPr>
              <a:t>DROP Inc  ·  Applied Data Visualisation 2026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57200" y="1097280"/>
            <a:ext cx="8229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</a:rPr>
              <a:t>Geopolitical Conflict</a:t>
            </a:r>
            <a:endParaRPr lang="en-US" sz="5200" dirty="0"/>
          </a:p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</a:rPr>
              <a:t>&amp; Trade Explorer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731520" y="333756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8FA3B1"/>
                </a:solidFill>
              </a:rPr>
              <a:t>How war, trade and military spending are connected — and what the data reveals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C3A52"/>
          </a:solidFill>
          <a:ln w="12700">
            <a:solidFill>
              <a:srgbClr val="1C3A52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7" name="Text 4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998B"/>
                </a:solidFill>
              </a:rPr>
              <a:t>conflict-and-trade-explorer.streamlit.app</a:t>
            </a:r>
            <a:endParaRPr lang="en-US" sz="1100" dirty="0"/>
          </a:p>
        </p:txBody>
      </p:sp>
      <p:pic>
        <p:nvPicPr>
          <p:cNvPr id="8" name="Image 0" descr="preencoded.png">
            <a:extLst>
              <a:ext uri="{FF2B5EF4-FFF2-40B4-BE49-F238E27FC236}">
                <a16:creationId xmlns:a16="http://schemas.microsoft.com/office/drawing/2014/main" id="{3ECEA51E-7724-E5EC-0C4F-30EF4148B8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88620"/>
            <a:ext cx="64008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01752"/>
          </a:xfrm>
          <a:prstGeom prst="roundRect">
            <a:avLst>
              <a:gd name="adj" fmla="val 15152"/>
            </a:avLst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TOPIC &amp; GOAL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D1B2A"/>
                </a:solidFill>
              </a:rPr>
              <a:t>What </a:t>
            </a:r>
            <a:r>
              <a:rPr lang="en-US" sz="3400" b="1">
                <a:solidFill>
                  <a:srgbClr val="0D1B2A"/>
                </a:solidFill>
              </a:rPr>
              <a:t>we built </a:t>
            </a:r>
            <a:r>
              <a:rPr lang="en-US" sz="3400" b="1" dirty="0">
                <a:solidFill>
                  <a:srgbClr val="0D1B2A"/>
                </a:solidFill>
              </a:rPr>
              <a:t>and why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26517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BE6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8740" y="1714500"/>
            <a:ext cx="685800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51460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2A"/>
                </a:solidFill>
              </a:rPr>
              <a:t>The Data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30352" y="2944368"/>
            <a:ext cx="2331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D5A73"/>
                </a:solidFill>
              </a:rPr>
              <a:t>COW Bilateral Trade · COW War Data · SIPRI Military Expenditure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D5A73"/>
                </a:solidFill>
              </a:rPr>
              <a:t>Three major datasets historically unconnected for analysts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00400" y="1508760"/>
            <a:ext cx="26517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BE6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3380" y="1714500"/>
            <a:ext cx="685800" cy="6858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37560" y="251460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2A"/>
                </a:solidFill>
              </a:rPr>
              <a:t>The Question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3364992" y="2944368"/>
            <a:ext cx="2331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D5A73"/>
                </a:solidFill>
              </a:rPr>
              <a:t>How do military spending, bilateral trade and conflict involvement interact across time for any given country or war?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035040" y="1508760"/>
            <a:ext cx="26517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BE6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5" name="Text 10"/>
          <p:cNvSpPr/>
          <p:nvPr/>
        </p:nvSpPr>
        <p:spPr>
          <a:xfrm>
            <a:off x="6172200" y="251460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2A"/>
                </a:solidFill>
              </a:rPr>
              <a:t>The Product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6199632" y="2944368"/>
            <a:ext cx="2331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D5A73"/>
                </a:solidFill>
              </a:rPr>
              <a:t>A single interactive dashboard: search by State or Conflict, filter by time, explore network and trend views</a:t>
            </a:r>
            <a:endParaRPr lang="en-US" sz="1200" dirty="0"/>
          </a:p>
        </p:txBody>
      </p:sp>
      <p:pic>
        <p:nvPicPr>
          <p:cNvPr id="17" name="Image 2" descr="preencoded.png">
            <a:extLst>
              <a:ext uri="{FF2B5EF4-FFF2-40B4-BE49-F238E27FC236}">
                <a16:creationId xmlns:a16="http://schemas.microsoft.com/office/drawing/2014/main" id="{FE0E3E4F-D3FE-B5A6-4ADF-97C55E152D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8020" y="17145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011680" cy="292608"/>
          </a:xfrm>
          <a:prstGeom prst="roundRect">
            <a:avLst>
              <a:gd name="adj" fmla="val 15625"/>
            </a:avLst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TARGET GROUP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One tool - two very different users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3977640" cy="3337560"/>
          </a:xfrm>
          <a:prstGeom prst="rect">
            <a:avLst/>
          </a:prstGeom>
          <a:solidFill>
            <a:srgbClr val="1C3A52"/>
          </a:solidFill>
          <a:ln w="12700">
            <a:solidFill>
              <a:srgbClr val="1C3A52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7" name="Text 4"/>
          <p:cNvSpPr/>
          <p:nvPr/>
        </p:nvSpPr>
        <p:spPr>
          <a:xfrm>
            <a:off x="594360" y="228600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Sarah, 38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94360" y="263347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998B"/>
                </a:solidFill>
              </a:rPr>
              <a:t>Senior Policy Analyst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94360" y="3017520"/>
            <a:ext cx="3566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DF2"/>
                </a:solidFill>
              </a:rPr>
              <a:t>Needs: </a:t>
            </a:r>
            <a:r>
              <a:rPr lang="en-US" sz="1200" dirty="0">
                <a:solidFill>
                  <a:srgbClr val="8FA3B1"/>
                </a:solidFill>
              </a:rPr>
              <a:t>instant overview of a conflict for a ministerial briefing
</a:t>
            </a:r>
            <a:r>
              <a:rPr lang="en-US" sz="1200" b="1" dirty="0">
                <a:solidFill>
                  <a:srgbClr val="E8EDF2"/>
                </a:solidFill>
              </a:rPr>
              <a:t>Pain: </a:t>
            </a:r>
            <a:r>
              <a:rPr lang="en-US" sz="1200" dirty="0">
                <a:solidFill>
                  <a:srgbClr val="8FA3B1"/>
                </a:solidFill>
              </a:rPr>
              <a:t>manually merging COW + SIPRI + Comtrade CSVs
</a:t>
            </a:r>
            <a:r>
              <a:rPr lang="en-US" sz="1200" b="1" dirty="0">
                <a:solidFill>
                  <a:srgbClr val="E8EDF2"/>
                </a:solidFill>
              </a:rPr>
              <a:t>Gain: </a:t>
            </a:r>
            <a:r>
              <a:rPr lang="en-US" sz="1200" dirty="0">
                <a:solidFill>
                  <a:srgbClr val="8FA3B1"/>
                </a:solidFill>
              </a:rPr>
              <a:t>a ready-made conflict narrative in minutes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54880" y="1417320"/>
            <a:ext cx="3977640" cy="3337560"/>
          </a:xfrm>
          <a:prstGeom prst="rect">
            <a:avLst/>
          </a:prstGeom>
          <a:solidFill>
            <a:srgbClr val="1C3A52"/>
          </a:solidFill>
          <a:ln w="12700">
            <a:solidFill>
              <a:srgbClr val="1C3A52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2" name="Text 8"/>
          <p:cNvSpPr/>
          <p:nvPr/>
        </p:nvSpPr>
        <p:spPr>
          <a:xfrm>
            <a:off x="4937760" y="228600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Marco, 31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937760" y="263347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C547"/>
                </a:solidFill>
              </a:rPr>
              <a:t>Investigative Data Journalist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937760" y="3017520"/>
            <a:ext cx="3566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DF2"/>
                </a:solidFill>
              </a:rPr>
              <a:t>Needs: </a:t>
            </a:r>
            <a:r>
              <a:rPr lang="en-US" sz="1200" dirty="0">
                <a:solidFill>
                  <a:srgbClr val="8FA3B1"/>
                </a:solidFill>
              </a:rPr>
              <a:t>spot trade anomalies and back stories with hard data
</a:t>
            </a:r>
            <a:r>
              <a:rPr lang="en-US" sz="1200" b="1" dirty="0">
                <a:solidFill>
                  <a:srgbClr val="E8EDF2"/>
                </a:solidFill>
              </a:rPr>
              <a:t>Pain: </a:t>
            </a:r>
            <a:r>
              <a:rPr lang="en-US" sz="1200" dirty="0">
                <a:solidFill>
                  <a:srgbClr val="8FA3B1"/>
                </a:solidFill>
              </a:rPr>
              <a:t>official portals are impossible to navigate without coding
</a:t>
            </a:r>
            <a:r>
              <a:rPr lang="en-US" sz="1200" b="1" dirty="0">
                <a:solidFill>
                  <a:srgbClr val="E8EDF2"/>
                </a:solidFill>
              </a:rPr>
              <a:t>Gain: </a:t>
            </a:r>
            <a:r>
              <a:rPr lang="en-US" sz="1200" dirty="0">
                <a:solidFill>
                  <a:srgbClr val="8FA3B1"/>
                </a:solidFill>
              </a:rPr>
              <a:t>from hypothesis to citable finding — no IT support needed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578129"/>
            <a:ext cx="548640" cy="548640"/>
          </a:xfrm>
          <a:prstGeom prst="rect">
            <a:avLst/>
          </a:prstGeom>
        </p:spPr>
      </p:pic>
      <p:pic>
        <p:nvPicPr>
          <p:cNvPr id="16" name="Image 0" descr="preencoded.png">
            <a:extLst>
              <a:ext uri="{FF2B5EF4-FFF2-40B4-BE49-F238E27FC236}">
                <a16:creationId xmlns:a16="http://schemas.microsoft.com/office/drawing/2014/main" id="{2423AE46-C9C6-F6E6-9BA2-EC7B24073F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0" y="1578129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01752"/>
          </a:xfrm>
          <a:prstGeom prst="roundRect">
            <a:avLst>
              <a:gd name="adj" fmla="val 15152"/>
            </a:avLst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NARRATIVE &amp; FEEDBACK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1B2A"/>
                </a:solidFill>
              </a:rPr>
              <a:t>How we tell this story today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416052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BE6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6" name="Text 4"/>
          <p:cNvSpPr/>
          <p:nvPr/>
        </p:nvSpPr>
        <p:spPr>
          <a:xfrm>
            <a:off x="594360" y="16002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</a:rPr>
              <a:t>Narrative Approach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🎭 Persona Dramatisation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35915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572"/>
                </a:solidFill>
              </a:rPr>
              <a:t>We follow Marco live through the dashboard — his hypothesis drives every click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77977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📖 Two-Act Structure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0358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572"/>
                </a:solidFill>
              </a:rPr>
              <a:t>Act 1: Iraq War trade </a:t>
            </a:r>
            <a:r>
              <a:rPr lang="en-US" sz="1100">
                <a:solidFill>
                  <a:srgbClr val="4A6572"/>
                </a:solidFill>
              </a:rPr>
              <a:t>collapse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6572"/>
                </a:solidFill>
              </a:rPr>
              <a:t>Act 2: India–Pakistan arms &amp; trade paradox 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45643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🔍 Overview → Zoom → Detail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71246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572"/>
                </a:solidFill>
              </a:rPr>
              <a:t>Each act mirrors the Shneiderman mantra built into the dashboard itself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1417320"/>
            <a:ext cx="3977640" cy="3337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6" name="Text 14"/>
          <p:cNvSpPr/>
          <p:nvPr/>
        </p:nvSpPr>
        <p:spPr>
          <a:xfrm>
            <a:off x="4937760" y="16002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We want your feedback on…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937760" y="208483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998B"/>
                </a:solidFill>
              </a:rPr>
              <a:t>① Visual Encoding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234086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GB" sz="1100" dirty="0">
                <a:solidFill>
                  <a:srgbClr val="8FA3B1"/>
                </a:solidFill>
              </a:rPr>
              <a:t>Is our combined trade and military chart easy to read at first glance?</a:t>
            </a:r>
            <a:endParaRPr lang="en-US" sz="1100" dirty="0">
              <a:solidFill>
                <a:srgbClr val="8FA3B1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4937760" y="276148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998B"/>
                </a:solidFill>
              </a:rPr>
              <a:t>② Navigation Flow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760" y="301752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B1"/>
                </a:solidFill>
              </a:rPr>
              <a:t>Is the State vs. Conflict toggle intuitive for a first-time user?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343814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998B"/>
                </a:solidFill>
              </a:rPr>
              <a:t>③ Missing Data UX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37760" y="369417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B1"/>
                </a:solidFill>
              </a:rPr>
              <a:t>Are gaps in the data handled transparently enough for academic use?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011680" cy="292608"/>
          </a:xfrm>
          <a:prstGeom prst="roundRect">
            <a:avLst>
              <a:gd name="adj" fmla="val 15625"/>
            </a:avLst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THE 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4754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The data exists.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The insight doesn't.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FA3B1"/>
                </a:solidFill>
              </a:rPr>
              <a:t>Three major academic datasets - all public, all separate, none designed to talk to each other.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017520"/>
            <a:ext cx="4023360" cy="475488"/>
          </a:xfrm>
          <a:prstGeom prst="rect">
            <a:avLst/>
          </a:prstGeom>
          <a:solidFill>
            <a:srgbClr val="1C3A52"/>
          </a:solidFill>
          <a:ln w="12700">
            <a:solidFill>
              <a:srgbClr val="1C3A52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7" name="Shape 5"/>
          <p:cNvSpPr/>
          <p:nvPr/>
        </p:nvSpPr>
        <p:spPr>
          <a:xfrm>
            <a:off x="457200" y="3017520"/>
            <a:ext cx="91440" cy="475488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8" name="Text 6"/>
          <p:cNvSpPr/>
          <p:nvPr/>
        </p:nvSpPr>
        <p:spPr>
          <a:xfrm>
            <a:off x="685800" y="304495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COW Bilateral Trade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3273552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1"/>
                </a:solidFill>
              </a:rPr>
              <a:t>Trade flows since 1870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3611880"/>
            <a:ext cx="4023360" cy="475488"/>
          </a:xfrm>
          <a:prstGeom prst="rect">
            <a:avLst/>
          </a:prstGeom>
          <a:solidFill>
            <a:srgbClr val="1C3A52"/>
          </a:solidFill>
          <a:ln w="12700">
            <a:solidFill>
              <a:srgbClr val="1C3A52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1" name="Shape 9"/>
          <p:cNvSpPr/>
          <p:nvPr/>
        </p:nvSpPr>
        <p:spPr>
          <a:xfrm>
            <a:off x="457200" y="3611880"/>
            <a:ext cx="91440" cy="475488"/>
          </a:xfrm>
          <a:prstGeom prst="rect">
            <a:avLst/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2" name="Text 10"/>
          <p:cNvSpPr/>
          <p:nvPr/>
        </p:nvSpPr>
        <p:spPr>
          <a:xfrm>
            <a:off x="685800" y="363931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COW War Data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3867912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1"/>
                </a:solidFill>
              </a:rPr>
              <a:t>Every interstate war since 1816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4206240"/>
            <a:ext cx="4023360" cy="475488"/>
          </a:xfrm>
          <a:prstGeom prst="rect">
            <a:avLst/>
          </a:prstGeom>
          <a:solidFill>
            <a:srgbClr val="1C3A52"/>
          </a:solidFill>
          <a:ln w="12700">
            <a:solidFill>
              <a:srgbClr val="1C3A52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5" name="Shape 13"/>
          <p:cNvSpPr/>
          <p:nvPr/>
        </p:nvSpPr>
        <p:spPr>
          <a:xfrm>
            <a:off x="457200" y="4206240"/>
            <a:ext cx="91440" cy="475488"/>
          </a:xfrm>
          <a:prstGeom prst="rect">
            <a:avLst/>
          </a:prstGeom>
          <a:solidFill>
            <a:srgbClr val="7B9EBE"/>
          </a:solidFill>
          <a:ln w="12700">
            <a:solidFill>
              <a:srgbClr val="7B9EB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6" name="Text 14"/>
          <p:cNvSpPr/>
          <p:nvPr/>
        </p:nvSpPr>
        <p:spPr>
          <a:xfrm>
            <a:off x="685800" y="423367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SIPRI Military Exp.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5800" y="4462272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1"/>
                </a:solidFill>
              </a:rPr>
              <a:t>Defence budgets post-WWII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0" y="685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998B"/>
                </a:solidFill>
              </a:rPr>
              <a:t>What analysts do today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029200" y="1188720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DF2"/>
                </a:solidFill>
              </a:rPr>
              <a:t>1.  Download 3 separate CSVs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0" y="1755648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DF2"/>
                </a:solidFill>
              </a:rPr>
              <a:t>2.  Manually match country codes (COW ≠ ISO)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29200" y="2322576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DF2"/>
                </a:solidFill>
              </a:rPr>
              <a:t>3.  Build custom scripts just to join tables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29200" y="2889504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DF2"/>
                </a:solidFill>
              </a:rPr>
              <a:t>4.  Repeat for every new question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0" y="3456432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C547"/>
                </a:solidFill>
              </a:rPr>
              <a:t>5.  No time left for actual analysis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937760" y="1097280"/>
            <a:ext cx="54864" cy="320040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011680" cy="292608"/>
          </a:xfrm>
          <a:prstGeom prst="roundRect">
            <a:avLst>
              <a:gd name="adj" fmla="val 15625"/>
            </a:avLst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MEET MARCO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998B"/>
                </a:solidFill>
              </a:rPr>
              <a:t>Marco has a hypothesis.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11480" y="1234440"/>
            <a:ext cx="8321040" cy="1371600"/>
          </a:xfrm>
          <a:prstGeom prst="rect">
            <a:avLst/>
          </a:prstGeom>
          <a:solidFill>
            <a:srgbClr val="1C3A52"/>
          </a:solidFill>
          <a:ln w="12700">
            <a:solidFill>
              <a:srgbClr val="E8C547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7" name="Text 5"/>
          <p:cNvSpPr/>
          <p:nvPr/>
        </p:nvSpPr>
        <p:spPr>
          <a:xfrm>
            <a:off x="594360" y="1325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8C547"/>
                </a:solidFill>
              </a:rPr>
              <a:t>ACT 1  ·  IRAQ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627632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FFFFFF"/>
                </a:solidFill>
              </a:rPr>
              <a:t>“The Gulf War (1990–91) shattered Iraq’s trade network overnight.</a:t>
            </a:r>
            <a:endParaRPr lang="en-US" sz="1700" dirty="0"/>
          </a:p>
          <a:p>
            <a:pPr marL="0" indent="0">
              <a:buNone/>
            </a:pPr>
            <a:r>
              <a:rPr lang="en-US" sz="1700" i="1" dirty="0">
                <a:solidFill>
                  <a:srgbClr val="FFFFFF"/>
                </a:solidFill>
              </a:rPr>
              <a:t>But which countries actually stayed? And who left first?”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11480" y="2788920"/>
            <a:ext cx="8321040" cy="1554480"/>
          </a:xfrm>
          <a:prstGeom prst="rect">
            <a:avLst/>
          </a:prstGeom>
          <a:solidFill>
            <a:srgbClr val="1C3A52"/>
          </a:solidFill>
          <a:ln w="127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0" name="Text 8"/>
          <p:cNvSpPr/>
          <p:nvPr/>
        </p:nvSpPr>
        <p:spPr>
          <a:xfrm>
            <a:off x="594360" y="2880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B998B"/>
                </a:solidFill>
              </a:rPr>
              <a:t>ACT 2  ·  INDIA – PAKISTAN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3182112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FFFFFF"/>
                </a:solidFill>
              </a:rPr>
              <a:t>“Two nuclear rivals. Three wars. A shared border.</a:t>
            </a:r>
            <a:endParaRPr lang="en-US" sz="1700" dirty="0"/>
          </a:p>
          <a:p>
            <a:pPr marL="0" indent="0">
              <a:buNone/>
            </a:pPr>
            <a:r>
              <a:rPr lang="en-US" sz="1700" i="1" dirty="0">
                <a:solidFill>
                  <a:srgbClr val="FFFFFF"/>
                </a:solidFill>
              </a:rPr>
              <a:t>Both are ramping up military spending in the 1990s — but is trade dying too, or doing something unexpected?”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194560" cy="292608"/>
          </a:xfrm>
          <a:prstGeom prst="roundRect">
            <a:avLst>
              <a:gd name="adj" fmla="val 15625"/>
            </a:avLst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LIVE DEMO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FFFFFF"/>
                </a:solidFill>
              </a:rPr>
              <a:t>Over to the</a:t>
            </a:r>
            <a:endParaRPr lang="en-US" sz="5800" dirty="0"/>
          </a:p>
          <a:p>
            <a:pPr marL="0" indent="0" algn="ctr">
              <a:buNone/>
            </a:pPr>
            <a:r>
              <a:rPr lang="en-US" sz="5800" b="1" dirty="0">
                <a:solidFill>
                  <a:srgbClr val="FFFFFF"/>
                </a:solidFill>
              </a:rPr>
              <a:t>Explorer.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914400" y="3200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8FA3B1"/>
                </a:solidFill>
              </a:rPr>
              <a:t>Marco opens the dashboard and runs the search live.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645920" y="3749040"/>
            <a:ext cx="5303520" cy="868680"/>
          </a:xfrm>
          <a:prstGeom prst="rect">
            <a:avLst/>
          </a:prstGeom>
          <a:solidFill>
            <a:srgbClr val="1C3A52"/>
          </a:solidFill>
          <a:ln w="12700">
            <a:solidFill>
              <a:srgbClr val="1C3A5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645920" y="3749040"/>
            <a:ext cx="5303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998B"/>
                </a:solidFill>
              </a:rPr>
              <a:t>IRQ + KWT  →  </a:t>
            </a:r>
            <a:r>
              <a:rPr lang="en-US" sz="1300" dirty="0">
                <a:solidFill>
                  <a:srgbClr val="8FA3B1"/>
                </a:solidFill>
              </a:rPr>
              <a:t>find the conflict  →  military exp. + trade charts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292608"/>
          </a:xfrm>
          <a:prstGeom prst="roundRect">
            <a:avLst>
              <a:gd name="adj" fmla="val 15625"/>
            </a:avLst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WHAT THE DATA SHOWS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Two conflicts. Two answers. One tool.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1389888"/>
            <a:ext cx="3977640" cy="3154680"/>
          </a:xfrm>
          <a:prstGeom prst="rect">
            <a:avLst/>
          </a:prstGeom>
          <a:solidFill>
            <a:srgbClr val="1C3A52"/>
          </a:solidFill>
          <a:ln w="19050">
            <a:solidFill>
              <a:srgbClr val="E8C547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594360" y="150876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8C547"/>
                </a:solidFill>
              </a:rPr>
              <a:t>ACT 1  ·  IRAQ / KUWAIT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187452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Trade drops to zero —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and never recovers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4360" y="2633472"/>
            <a:ext cx="35661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B1"/>
                </a:solidFill>
              </a:rPr>
              <a:t>Kuwait–Iraq trade flatlines permanently after the Gulf War. Military expenditure spikes sharply just before the conflict, then collapses. War as economic rupture — complete and irreversible.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389888"/>
            <a:ext cx="3977640" cy="3154680"/>
          </a:xfrm>
          <a:prstGeom prst="rect">
            <a:avLst/>
          </a:prstGeom>
          <a:solidFill>
            <a:srgbClr val="1C3A52"/>
          </a:solidFill>
          <a:ln w="19050">
            <a:solidFill>
              <a:srgbClr val="1B998B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4937760" y="150876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B998B"/>
                </a:solidFill>
              </a:rPr>
              <a:t>ACT 2  ·  INDIA – PAKISTAN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937760" y="187452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Guns AND butter —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rivals who traded anyway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937760" y="2633472"/>
            <a:ext cx="35661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B1"/>
                </a:solidFill>
              </a:rPr>
              <a:t>Both nations arm up through the 1990s — yet bilateral trade quietly climbs from 1996 onward. Even the Kargil war barely interrupts it. War and commerce coexist in ways that defy simple assumptions.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6817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1B998B"/>
                </a:solidFill>
              </a:rPr>
              <a:t>The same tool. The same three clicks. Two completely different stories hidden in the data.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011680" cy="292608"/>
          </a:xfrm>
          <a:prstGeom prst="roundRect">
            <a:avLst>
              <a:gd name="adj" fmla="val 15625"/>
            </a:avLst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UNDER THE HOOD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How the dashboard is built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371600"/>
            <a:ext cx="1234440" cy="777240"/>
          </a:xfrm>
          <a:prstGeom prst="rect">
            <a:avLst/>
          </a:prstGeom>
          <a:solidFill>
            <a:srgbClr val="1C3A52"/>
          </a:solidFill>
          <a:ln w="127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6" name="Text 4"/>
          <p:cNvSpPr/>
          <p:nvPr/>
        </p:nvSpPr>
        <p:spPr>
          <a:xfrm>
            <a:off x="411480" y="1417320"/>
            <a:ext cx="1234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998B"/>
                </a:solidFill>
              </a:rPr>
              <a:t>COW Trade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B998B"/>
                </a:solidFill>
              </a:rPr>
              <a:t>CSV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828800" y="1371600"/>
            <a:ext cx="1234440" cy="777240"/>
          </a:xfrm>
          <a:prstGeom prst="rect">
            <a:avLst/>
          </a:prstGeom>
          <a:solidFill>
            <a:srgbClr val="1C3A52"/>
          </a:solidFill>
          <a:ln w="12700">
            <a:solidFill>
              <a:srgbClr val="E8C547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9" name="Text 7"/>
          <p:cNvSpPr/>
          <p:nvPr/>
        </p:nvSpPr>
        <p:spPr>
          <a:xfrm>
            <a:off x="1828800" y="1417320"/>
            <a:ext cx="1234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C547"/>
                </a:solidFill>
              </a:rPr>
              <a:t>COW Wars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E8C547"/>
                </a:solidFill>
              </a:rPr>
              <a:t>CSV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46120" y="1371600"/>
            <a:ext cx="1234440" cy="777240"/>
          </a:xfrm>
          <a:prstGeom prst="rect">
            <a:avLst/>
          </a:prstGeom>
          <a:solidFill>
            <a:srgbClr val="1C3A52"/>
          </a:solidFill>
          <a:ln w="12700">
            <a:solidFill>
              <a:srgbClr val="7B9EB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2" name="Text 10"/>
          <p:cNvSpPr/>
          <p:nvPr/>
        </p:nvSpPr>
        <p:spPr>
          <a:xfrm>
            <a:off x="3246120" y="1417320"/>
            <a:ext cx="1234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B9EBE"/>
                </a:solidFill>
              </a:rPr>
              <a:t>SIPRI Mil.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7B9EBE"/>
                </a:solidFill>
              </a:rPr>
              <a:t>Expenditure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217419" y="21945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FA3B1"/>
                </a:solidFill>
              </a:rPr>
              <a:t>↓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828800" y="2601468"/>
            <a:ext cx="1234440" cy="685800"/>
          </a:xfrm>
          <a:prstGeom prst="rect">
            <a:avLst/>
          </a:prstGeom>
          <a:solidFill>
            <a:srgbClr val="1C3A52"/>
          </a:solidFill>
          <a:ln w="127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5" name="Text 13"/>
          <p:cNvSpPr/>
          <p:nvPr/>
        </p:nvSpPr>
        <p:spPr>
          <a:xfrm>
            <a:off x="1828799" y="2615282"/>
            <a:ext cx="1234441" cy="6719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998B"/>
                </a:solidFill>
              </a:rPr>
              <a:t>Data Cleaning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B998B"/>
                </a:solidFill>
              </a:rPr>
              <a:t>&amp; Entity Matching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240280" y="33375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FA3B1"/>
                </a:solidFill>
              </a:rPr>
              <a:t>↓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828800" y="3719733"/>
            <a:ext cx="1234440" cy="658368"/>
          </a:xfrm>
          <a:prstGeom prst="rect">
            <a:avLst/>
          </a:prstGeom>
          <a:solidFill>
            <a:srgbClr val="1C3A52"/>
          </a:solidFill>
          <a:ln w="12700">
            <a:solidFill>
              <a:srgbClr val="7B9EB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8" name="Text 16"/>
          <p:cNvSpPr/>
          <p:nvPr/>
        </p:nvSpPr>
        <p:spPr>
          <a:xfrm>
            <a:off x="1828800" y="379476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B9EBE"/>
                </a:solidFill>
              </a:rPr>
              <a:t>Parquet / Cache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154680" y="39319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FA3B1"/>
                </a:solidFill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520440" y="3719733"/>
            <a:ext cx="1234440" cy="674781"/>
          </a:xfrm>
          <a:prstGeom prst="rect">
            <a:avLst/>
          </a:prstGeom>
          <a:solidFill>
            <a:srgbClr val="1C3A52"/>
          </a:solidFill>
          <a:ln w="12700">
            <a:solidFill>
              <a:srgbClr val="E8C547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1" name="Text 19"/>
          <p:cNvSpPr/>
          <p:nvPr/>
        </p:nvSpPr>
        <p:spPr>
          <a:xfrm>
            <a:off x="3520440" y="3692301"/>
            <a:ext cx="1234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C547"/>
                </a:solidFill>
              </a:rPr>
              <a:t>Streamlit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E8C547"/>
                </a:solidFill>
              </a:rPr>
              <a:t>Dashboard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394960" y="1325880"/>
            <a:ext cx="3383280" cy="3429000"/>
          </a:xfrm>
          <a:prstGeom prst="rect">
            <a:avLst/>
          </a:prstGeom>
          <a:solidFill>
            <a:srgbClr val="1C3A52"/>
          </a:solidFill>
          <a:ln w="12700">
            <a:solidFill>
              <a:srgbClr val="1C3A52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3" name="Text 21"/>
          <p:cNvSpPr/>
          <p:nvPr/>
        </p:nvSpPr>
        <p:spPr>
          <a:xfrm>
            <a:off x="5577840" y="146304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Key Engineering Challenges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577840" y="196596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998B"/>
                </a:solidFill>
              </a:rPr>
              <a:t>▸ Entity Matching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577840" y="222199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1"/>
                </a:solidFill>
              </a:rPr>
              <a:t>COW State Codes → ISO country codes, required custom mapping table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77840" y="2670048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998B"/>
                </a:solidFill>
              </a:rPr>
              <a:t>▸ Temporal Mismatch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577840" y="29260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1"/>
                </a:solidFill>
              </a:rPr>
              <a:t>SIPRI starts post-WWII; COW trade goes from 1816 to 2014 triad only possible for overlapping years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577840" y="3374136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998B"/>
                </a:solidFill>
              </a:rPr>
              <a:t>▸ Performance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577840" y="363016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1"/>
                </a:solidFill>
              </a:rPr>
              <a:t>Large bilateral CSVs cached as Parquet; reactive filters avoid full reloads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577840" y="4078224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998B"/>
                </a:solidFill>
              </a:rPr>
              <a:t>▸ Missing Data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577840" y="4334256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1"/>
                </a:solidFill>
              </a:rPr>
              <a:t>Gaps clearly flagged in UI academic honesty over false completeness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058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</a:rPr>
              <a:t>Try it yourself.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828800" y="2103120"/>
            <a:ext cx="5486400" cy="822960"/>
          </a:xfrm>
          <a:prstGeom prst="rect">
            <a:avLst/>
          </a:prstGeom>
          <a:solidFill>
            <a:srgbClr val="1C3A52"/>
          </a:solidFill>
          <a:ln w="12700">
            <a:solidFill>
              <a:srgbClr val="1B998B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4" name="Text 2"/>
          <p:cNvSpPr/>
          <p:nvPr/>
        </p:nvSpPr>
        <p:spPr>
          <a:xfrm>
            <a:off x="1828800" y="210312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998B"/>
                </a:solidFill>
              </a:rPr>
              <a:t>🔗  conflict-and-trade-explorer.streamlit.app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154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FA3B1"/>
                </a:solidFill>
              </a:rPr>
              <a:t>COW Bilateral Trade · COW War Data · SIPRI Military Expenditure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371600" y="3657600"/>
            <a:ext cx="6400800" cy="960120"/>
          </a:xfrm>
          <a:prstGeom prst="rect">
            <a:avLst/>
          </a:prstGeom>
          <a:solidFill>
            <a:srgbClr val="1C3A52"/>
          </a:solidFill>
          <a:ln w="12700">
            <a:solidFill>
              <a:srgbClr val="1C3A52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7" name="Text 5"/>
          <p:cNvSpPr/>
          <p:nvPr/>
        </p:nvSpPr>
        <p:spPr>
          <a:xfrm>
            <a:off x="1508760" y="3703320"/>
            <a:ext cx="6126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EDF2"/>
                </a:solidFill>
              </a:rPr>
              <a:t>We'd love your feedback on:  </a:t>
            </a:r>
          </a:p>
          <a:p>
            <a:pPr marL="0" indent="0" algn="ctr">
              <a:buNone/>
            </a:pPr>
            <a:r>
              <a:rPr lang="en-US" sz="1200" dirty="0">
                <a:solidFill>
                  <a:srgbClr val="E8EDF2"/>
                </a:solidFill>
              </a:rPr>
              <a:t>Visual encoding clarity · </a:t>
            </a:r>
            <a:r>
              <a:rPr lang="en-US" sz="1200">
                <a:solidFill>
                  <a:srgbClr val="E8EDF2"/>
                </a:solidFill>
              </a:rPr>
              <a:t>Navigation intuitiveness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B1"/>
                </a:solidFill>
              </a:rPr>
              <a:t>DROP Inc  ·  Applied Data Visualisation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774</Words>
  <Application>Microsoft Office PowerPoint</Application>
  <PresentationFormat>Bildschirmpräsentation (16:9)</PresentationFormat>
  <Paragraphs>110</Paragraphs>
  <Slides>10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Müller Jan (muellj16)</cp:lastModifiedBy>
  <cp:revision>6</cp:revision>
  <dcterms:created xsi:type="dcterms:W3CDTF">2013-01-27T09:14:16Z</dcterms:created>
  <dcterms:modified xsi:type="dcterms:W3CDTF">2026-05-31T13:36:21Z</dcterms:modified>
  <cp:category/>
</cp:coreProperties>
</file>