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10"/>
  </p:normalViewPr>
  <p:slideViewPr>
    <p:cSldViewPr snapToGrid="0" snapToObjects="1">
      <p:cViewPr>
        <p:scale>
          <a:sx n="137" d="100"/>
          <a:sy n="137" d="100"/>
        </p:scale>
        <p:origin x="126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25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998B"/>
                </a:solidFill>
              </a:rPr>
              <a:t>DROP Inc  ·  Applied Data Visualisation 2026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Geopolitical Conflict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&amp; Trade Explorer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31520" y="33375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3B1"/>
                </a:solidFill>
              </a:rPr>
              <a:t>How war, trade and military spending are connected — and what the data reveals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</a:rPr>
              <a:t>conflict-and-trade-explorer.streamlit.app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① TOPIC &amp;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What we built — and why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29443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COW Bilateral Trade · COW War Data · SIPRI Military Expenditure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Three major datasets — historically unconnected for analysts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69164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Question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64992" y="29443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How do military spending, bilateral trade and conflict involvement interact across time for any given country or war?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5087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9164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2514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Product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199632" y="294436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A73"/>
                </a:solidFill>
              </a:rPr>
              <a:t>A single interactive dashboard: search by State or Conflict, filter by time, explore network and trend views — no coding required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② TARGET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One tool — two very different users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77640" cy="333756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Sarah, 38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633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</a:rPr>
              <a:t>Senior Policy Analyst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</a:rPr>
              <a:t>Needs: </a:t>
            </a:r>
            <a:r>
              <a:rPr lang="en-US" sz="1200" dirty="0">
                <a:solidFill>
                  <a:srgbClr val="8FA3B1"/>
                </a:solidFill>
              </a:rPr>
              <a:t>instant overview of a conflict for a ministerial briefing
</a:t>
            </a:r>
            <a:r>
              <a:rPr lang="en-US" sz="1200" b="1" dirty="0">
                <a:solidFill>
                  <a:srgbClr val="E8EDF2"/>
                </a:solidFill>
              </a:rPr>
              <a:t>Pain: </a:t>
            </a:r>
            <a:r>
              <a:rPr lang="en-US" sz="1200" dirty="0">
                <a:solidFill>
                  <a:srgbClr val="8FA3B1"/>
                </a:solidFill>
              </a:rPr>
              <a:t>manually merging COW + SIPRI + Comtrade CSVs
</a:t>
            </a:r>
            <a:r>
              <a:rPr lang="en-US" sz="1200" b="1" dirty="0">
                <a:solidFill>
                  <a:srgbClr val="E8EDF2"/>
                </a:solidFill>
              </a:rPr>
              <a:t>Gain: </a:t>
            </a:r>
            <a:r>
              <a:rPr lang="en-US" sz="1200" dirty="0">
                <a:solidFill>
                  <a:srgbClr val="8FA3B1"/>
                </a:solidFill>
              </a:rPr>
              <a:t>a ready-made conflict narrative in minutes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977640" cy="333756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002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Marco, 31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2633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547"/>
                </a:solidFill>
              </a:rPr>
              <a:t>Investigative Data Journalist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3017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2"/>
                </a:solidFill>
              </a:rPr>
              <a:t>Needs: </a:t>
            </a:r>
            <a:r>
              <a:rPr lang="en-US" sz="1200" dirty="0">
                <a:solidFill>
                  <a:srgbClr val="8FA3B1"/>
                </a:solidFill>
              </a:rPr>
              <a:t>spot trade anomalies and back stories with hard data
</a:t>
            </a:r>
            <a:r>
              <a:rPr lang="en-US" sz="1200" b="1" dirty="0">
                <a:solidFill>
                  <a:srgbClr val="E8EDF2"/>
                </a:solidFill>
              </a:rPr>
              <a:t>Pain: </a:t>
            </a:r>
            <a:r>
              <a:rPr lang="en-US" sz="1200" dirty="0">
                <a:solidFill>
                  <a:srgbClr val="8FA3B1"/>
                </a:solidFill>
              </a:rPr>
              <a:t>official portals are impossible to navigate without coding
</a:t>
            </a:r>
            <a:r>
              <a:rPr lang="en-US" sz="1200" b="1" dirty="0">
                <a:solidFill>
                  <a:srgbClr val="E8EDF2"/>
                </a:solidFill>
              </a:rPr>
              <a:t>Gain: </a:t>
            </a:r>
            <a:r>
              <a:rPr lang="en-US" sz="1200" dirty="0">
                <a:solidFill>
                  <a:srgbClr val="8FA3B1"/>
                </a:solidFill>
              </a:rPr>
              <a:t>from hypothesis to citable finding — no IT support needed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02336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③ NARRATIVE &amp; FEEDBACK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</a:rPr>
              <a:t>How we tell this story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60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Narrative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🎭 Persona Dramatisation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59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We follow Marco live through the dashboard — his hypothesis drives every click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📖 Two-Act 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Act 1: Iraq War trade collapse (conflict view)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Act 2: India–Pakistan arms &amp; trade paradox (state view)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56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🔍 Overview → Zoom → Detail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12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Each act mirrors the Shneiderman mantra built into the dashboard itself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33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💡 Rhetorical Contrast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</a:rPr>
              <a:t>Expected vs. actual data — the surprise is the argument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3977640" cy="3337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 want your feedback on…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084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① Visual Encoding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40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Does the trade/military dual-axis chart communicate the correlation clearly, or does it confuse?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② Navigation 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Is the State vs. Conflict toggle intuitive for a first-time user?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4381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③ Missing Data UX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Are gaps in the data handled transparently enough for academic use?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114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④ Scope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3708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Are there obvious conflict/country pairs we should have showcased?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data exists.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insight doesn't.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1"/>
                </a:solidFill>
              </a:rPr>
              <a:t>Three major academic datasets — all public, all separate, none designed to talk to each other.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4023360" cy="475488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9144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685800" y="3044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COW Bilateral Trade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Trade flows since 1870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023360" cy="475488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91440" cy="47548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85800" y="3639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COW War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8679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Every interstate war 1816→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4023360" cy="475488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91440" cy="475488"/>
          </a:xfrm>
          <a:prstGeom prst="rect">
            <a:avLst/>
          </a:prstGeom>
          <a:solidFill>
            <a:srgbClr val="7B9EBE"/>
          </a:solidFill>
          <a:ln w="127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85800" y="4233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SIPRI Military Exp.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4622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Defence budgets post-WWII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685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</a:rPr>
              <a:t>What analysts do today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1188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1.  Download 3 separate CSVs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7556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2.  Manually match country codes (COW ≠ ISO)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3225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3.  Build custom scripts just to join tables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8895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</a:rPr>
              <a:t>4.  Repeat for every new question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4564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547"/>
                </a:solidFill>
              </a:rPr>
              <a:t>5.  No time left for actual 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097280"/>
            <a:ext cx="54864" cy="3200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MEET MARCO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998B"/>
                </a:solidFill>
              </a:rPr>
              <a:t>Marco has a hypothesis.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8321040" cy="1371600"/>
          </a:xfrm>
          <a:prstGeom prst="rect">
            <a:avLst/>
          </a:prstGeom>
          <a:solidFill>
            <a:srgbClr val="1C3A52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547"/>
                </a:solidFill>
              </a:rPr>
              <a:t>ACT 1  ·  IRAQ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“The Gulf War (1990–91) shattered Iraq’s trade network overnight.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But which countries actually stayed? And who left first?”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8321040" cy="155448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998B"/>
                </a:solidFill>
              </a:rPr>
              <a:t>ACT 2  ·  INDIA – PAKISTAN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“Two nuclear rivals. Three wars. A shared border.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Both are ramping up military spending in the 1990s — but is trade dying too, or doing something unexpected?”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 1 · IRAQ — STEP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Step 1: Find the conflict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5669280" cy="257860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11480" y="1097280"/>
            <a:ext cx="5669280" cy="292608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</a:rPr>
              <a:t>● ● ●   conflict-and-trade-explorer.streamlit.app  ·  Conflict Browser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63640" y="1097280"/>
            <a:ext cx="2514600" cy="370332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6446520" y="1261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Marco uses 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71907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/>
          <p:nvPr/>
        </p:nvSpPr>
        <p:spPr>
          <a:xfrm>
            <a:off x="635508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48272" y="1719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State A = IRQ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48272" y="1920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Filter the conflict list to only show Iraq's disputes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55080" y="2478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635508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②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48272" y="24780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State B = USA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48272" y="2679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Narrow down to direct confrontations between the two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55080" y="32369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6"/>
          <p:cNvSpPr/>
          <p:nvPr/>
        </p:nvSpPr>
        <p:spPr>
          <a:xfrm>
            <a:off x="635508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③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48272" y="32369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Adjust year range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48272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1988–1994 isolates the Gulf War period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55080" y="39959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0"/>
          <p:cNvSpPr/>
          <p:nvPr/>
        </p:nvSpPr>
        <p:spPr>
          <a:xfrm>
            <a:off x="635508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④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48272" y="3995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Pick Conflict #3552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48272" y="41970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The table shows IDs — Marco picks the 1992–93 entry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1408176"/>
            <a:ext cx="2560320" cy="965076"/>
          </a:xfrm>
          <a:prstGeom prst="rect">
            <a:avLst/>
          </a:prstGeom>
          <a:solidFill>
            <a:srgbClr val="E8C547">
              <a:alpha val="15000"/>
            </a:srgbClr>
          </a:solidFill>
          <a:ln w="190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4"/>
          <p:cNvSpPr/>
          <p:nvPr/>
        </p:nvSpPr>
        <p:spPr>
          <a:xfrm>
            <a:off x="502920" y="3886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C547"/>
                </a:solidFill>
              </a:rPr>
              <a:t>Filter by state pair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 1 · IRAQ — STEP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Step 2: Enter Conflict ID 3552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5303520" cy="3822192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97880" y="1097280"/>
            <a:ext cx="2880360" cy="3822192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6080760" y="1261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appears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7190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Map highlights KWT &amp; IRQ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9933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The two belligerents shown geographically — instant orientation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250545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Duration: 1992–1993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7797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Post-Gulf War standoff, not the war itself — Kuwait vs. Iraq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3291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Outcome: Stalemate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356616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No decisive resolution, conflict severity 75/100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40782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Alliance tables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43525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Full list of each state's treaty partners during the conflict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 1 · IRAQ —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The trade drops to zero — and never recovers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5760720" cy="370332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43639" y="3452209"/>
            <a:ext cx="2182693" cy="400835"/>
          </a:xfrm>
          <a:prstGeom prst="rect">
            <a:avLst/>
          </a:prstGeom>
          <a:solidFill>
            <a:srgbClr val="E8C547">
              <a:alpha val="20000"/>
            </a:srgbClr>
          </a:solidFill>
          <a:ln w="190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3685227" y="3479641"/>
            <a:ext cx="2095385" cy="240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547"/>
                </a:solidFill>
              </a:rPr>
              <a:t>Trade = 0 from 1991 onward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55080" y="1234440"/>
            <a:ext cx="2423160" cy="3703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6492240" y="13898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Marco's finding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810512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Iraq's military expenditure peaks sharply just before the conflict, then collapses.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Kuwait–Iraq trade hits zero in 1991 and flatlines permanently — not a dip, a permanent break.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The red shading makes the conflict period unmissable.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This took Marco 3 clicks. Previously: days of CSV work.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4224528"/>
            <a:ext cx="2148840" cy="59436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9"/>
          <p:cNvSpPr/>
          <p:nvPr/>
        </p:nvSpPr>
        <p:spPr>
          <a:xfrm>
            <a:off x="6492240" y="42245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998B"/>
                </a:solidFill>
              </a:rPr>
              <a:t>3 clicks → story found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 2 · INDIA–PAKISTAN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Now Marco switches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 the state view.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2743200" cy="292608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C547"/>
                </a:solidFill>
              </a:rPr>
              <a:t>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Wars fought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1947 · 1965 · 1971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743200" cy="292608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B998B"/>
                </a:solidFill>
              </a:rPr>
              <a:t>~70%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474720" y="32461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Mil. spend increase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India 1990s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2743200" cy="292608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172200" y="19202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7B9EBE"/>
                </a:solidFill>
              </a:rPr>
              <a:t>↑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355080" y="32461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Bilateral trade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growing from 1996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998B"/>
                </a:solidFill>
              </a:rPr>
              <a:t>The question: does rising military spending kill trade — or do they coexist?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 2 · INDIA–PAKISTAN —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Guns AND butter — the paradox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53949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C3A5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India vs. Pakistan · Military Expenditure &amp; Bilateral Trade · 1988–2010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411480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1371600" y="393192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1737360" y="374904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2103120" y="356616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2468880" y="329184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2834640" y="301752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3566160" y="256032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3931920" y="237744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4297680" y="219456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5029200" y="2011680"/>
            <a:ext cx="36576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1005840" y="365760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1371600" y="356616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1737360" y="352044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2103120" y="347472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2468880" y="338328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2834640" y="329184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3566160" y="315468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3931920" y="310896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Shape 26"/>
          <p:cNvSpPr/>
          <p:nvPr/>
        </p:nvSpPr>
        <p:spPr>
          <a:xfrm>
            <a:off x="4297680" y="306324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Shape 28"/>
          <p:cNvSpPr/>
          <p:nvPr/>
        </p:nvSpPr>
        <p:spPr>
          <a:xfrm>
            <a:off x="5029200" y="2999232"/>
            <a:ext cx="36576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1005840" y="466344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Shape 30"/>
          <p:cNvSpPr/>
          <p:nvPr/>
        </p:nvSpPr>
        <p:spPr>
          <a:xfrm>
            <a:off x="1371600" y="466344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Shape 31"/>
          <p:cNvSpPr/>
          <p:nvPr/>
        </p:nvSpPr>
        <p:spPr>
          <a:xfrm>
            <a:off x="1737360" y="466344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2103120" y="466344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Shape 33"/>
          <p:cNvSpPr/>
          <p:nvPr/>
        </p:nvSpPr>
        <p:spPr>
          <a:xfrm>
            <a:off x="2468880" y="461772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Shape 34"/>
          <p:cNvSpPr/>
          <p:nvPr/>
        </p:nvSpPr>
        <p:spPr>
          <a:xfrm>
            <a:off x="2834640" y="457200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7" name="Shape 35"/>
          <p:cNvSpPr/>
          <p:nvPr/>
        </p:nvSpPr>
        <p:spPr>
          <a:xfrm>
            <a:off x="3200400" y="448056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8" name="Shape 36"/>
          <p:cNvSpPr/>
          <p:nvPr/>
        </p:nvSpPr>
        <p:spPr>
          <a:xfrm>
            <a:off x="3566160" y="429768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9" name="Shape 37"/>
          <p:cNvSpPr/>
          <p:nvPr/>
        </p:nvSpPr>
        <p:spPr>
          <a:xfrm>
            <a:off x="3931920" y="402336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0" name="Shape 38"/>
          <p:cNvSpPr/>
          <p:nvPr/>
        </p:nvSpPr>
        <p:spPr>
          <a:xfrm>
            <a:off x="4297680" y="365760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1" name="Shape 39"/>
          <p:cNvSpPr/>
          <p:nvPr/>
        </p:nvSpPr>
        <p:spPr>
          <a:xfrm>
            <a:off x="4663440" y="329184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2" name="Shape 40"/>
          <p:cNvSpPr/>
          <p:nvPr/>
        </p:nvSpPr>
        <p:spPr>
          <a:xfrm>
            <a:off x="5029200" y="2926080"/>
            <a:ext cx="365760" cy="0"/>
          </a:xfrm>
          <a:prstGeom prst="line">
            <a:avLst/>
          </a:prstGeom>
          <a:noFill/>
          <a:ln w="3175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3" name="Shape 41"/>
          <p:cNvSpPr/>
          <p:nvPr/>
        </p:nvSpPr>
        <p:spPr>
          <a:xfrm>
            <a:off x="3429000" y="1691640"/>
            <a:ext cx="320040" cy="2999232"/>
          </a:xfrm>
          <a:prstGeom prst="rect">
            <a:avLst/>
          </a:prstGeom>
          <a:solidFill>
            <a:srgbClr val="E8C547">
              <a:alpha val="25000"/>
            </a:srgbClr>
          </a:solidFill>
          <a:ln w="12700">
            <a:solidFill>
              <a:srgbClr val="E8C54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4" name="Text 42"/>
          <p:cNvSpPr/>
          <p:nvPr/>
        </p:nvSpPr>
        <p:spPr>
          <a:xfrm>
            <a:off x="3319272" y="43159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C547"/>
                </a:solidFill>
              </a:rPr>
              <a:t>Kargil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E8C547"/>
                </a:solidFill>
              </a:rPr>
              <a:t>1999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14400" y="4572000"/>
            <a:ext cx="32004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6" name="Text 44"/>
          <p:cNvSpPr/>
          <p:nvPr/>
        </p:nvSpPr>
        <p:spPr>
          <a:xfrm>
            <a:off x="1280160" y="4507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998B"/>
                </a:solidFill>
              </a:rPr>
              <a:t>India mil. exp.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51760" y="4572000"/>
            <a:ext cx="320040" cy="0"/>
          </a:xfrm>
          <a:prstGeom prst="line">
            <a:avLst/>
          </a:prstGeom>
          <a:noFill/>
          <a:ln w="254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8" name="Text 46"/>
          <p:cNvSpPr/>
          <p:nvPr/>
        </p:nvSpPr>
        <p:spPr>
          <a:xfrm>
            <a:off x="3017520" y="4507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EBE"/>
                </a:solidFill>
              </a:rPr>
              <a:t>Pakistan mil. exp.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480560" y="4572000"/>
            <a:ext cx="320040" cy="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0" name="Text 48"/>
          <p:cNvSpPr/>
          <p:nvPr/>
        </p:nvSpPr>
        <p:spPr>
          <a:xfrm>
            <a:off x="4846320" y="45079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C547"/>
                </a:solidFill>
              </a:rPr>
              <a:t>Bilateral trade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89320" y="128016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2" name="Text 50"/>
          <p:cNvSpPr/>
          <p:nvPr/>
        </p:nvSpPr>
        <p:spPr>
          <a:xfrm>
            <a:off x="617220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Paradox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172200" y="18745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73"/>
                </a:solidFill>
              </a:rPr>
              <a:t>Both countries dramatically increase military spending through the 1990s — yet bilateral trade quietly starts rising from 1996 onward.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73"/>
                </a:solidFill>
              </a:rPr>
              <a:t>Even the Kargil conflict (1999) barely interrupts the trade trend.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A73"/>
                </a:solidFill>
              </a:rPr>
              <a:t>War and commerce coexist in ways that defy simple assumptions. The data tells a more nuanced story than the headlines.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 THE HOOD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the dashboard is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234440" cy="77724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998B"/>
                </a:solidFill>
              </a:rPr>
              <a:t>COW Trade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998B"/>
                </a:solidFill>
              </a:rPr>
              <a:t>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1371600"/>
            <a:ext cx="1234440" cy="777240"/>
          </a:xfrm>
          <a:prstGeom prst="rect">
            <a:avLst/>
          </a:prstGeom>
          <a:solidFill>
            <a:srgbClr val="1C3A52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828800" y="14173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</a:rPr>
              <a:t>COW Wars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</a:rPr>
              <a:t>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5087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1234440" cy="777240"/>
          </a:xfrm>
          <a:prstGeom prst="rect">
            <a:avLst/>
          </a:prstGeom>
          <a:solidFill>
            <a:srgbClr val="1C3A52"/>
          </a:solidFill>
          <a:ln w="127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246120" y="14173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9EBE"/>
                </a:solidFill>
              </a:rPr>
              <a:t>SIPRI Mil.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B9EBE"/>
                </a:solidFill>
              </a:rPr>
              <a:t>Expenditure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3B1"/>
                </a:solidFill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80160" y="2606040"/>
            <a:ext cx="1828800" cy="68580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1280160" y="26243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</a:rPr>
              <a:t>Data Cleaning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998B"/>
                </a:solidFill>
              </a:rPr>
              <a:t>&amp; Entity Matching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3B1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80160" y="3749040"/>
            <a:ext cx="1828800" cy="594360"/>
          </a:xfrm>
          <a:prstGeom prst="rect">
            <a:avLst/>
          </a:prstGeom>
          <a:solidFill>
            <a:srgbClr val="1C3A52"/>
          </a:solidFill>
          <a:ln w="12700">
            <a:solidFill>
              <a:srgbClr val="7B9EB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BE"/>
                </a:solidFill>
              </a:rPr>
              <a:t>Parquet / Cache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66160" y="3657600"/>
            <a:ext cx="1737360" cy="777240"/>
          </a:xfrm>
          <a:prstGeom prst="rect">
            <a:avLst/>
          </a:prstGeom>
          <a:solidFill>
            <a:srgbClr val="1C3A52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566160" y="367588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547"/>
                </a:solidFill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C547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325880"/>
            <a:ext cx="3383280" cy="342900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577840" y="1463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Engineering Challenges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1965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Entity Matching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COW State Codes → ISO country codes, required custom mapping table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670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Temporal Mismatch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SIPRI starts post-WWII; COW trade goes to 1816 — triad only possible for overlapping years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33741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630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Large bilateral CSVs cached as Parquet; reactive filters avoid full reloads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40782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▸ Missing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43342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Gaps clearly flagged in UI — academic honesty over false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Try it yourself.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28800" y="2103120"/>
            <a:ext cx="5486400" cy="822960"/>
          </a:xfrm>
          <a:prstGeom prst="rect">
            <a:avLst/>
          </a:prstGeom>
          <a:solidFill>
            <a:srgbClr val="1C3A52"/>
          </a:solidFill>
          <a:ln w="12700">
            <a:solidFill>
              <a:srgbClr val="1B998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18288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998B"/>
                </a:solidFill>
              </a:rPr>
              <a:t>🔗  conflict-and-trade-explorer.streamlit.app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COW Bilateral Trade · COW War Data · SIPRI Military Expenditure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6400800" cy="960120"/>
          </a:xfrm>
          <a:prstGeom prst="rect">
            <a:avLst/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508760" y="370332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2"/>
                </a:solidFill>
              </a:rPr>
              <a:t>We'd love your feedback on:  Visual encoding clarity · Navigation intuitiveness · Missing data transparency ·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DROP Inc  ·  Applied Data Visualisation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Microsoft Office PowerPoint</Application>
  <PresentationFormat>Bildschirmpräsentation (16:9)</PresentationFormat>
  <Paragraphs>180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Geopolitical Conflict &amp; Trade Explorer</dc:title>
  <dc:subject>PptxGenJS Presentation</dc:subject>
  <dc:creator>PptxGenJS</dc:creator>
  <cp:lastModifiedBy>Monn Aron (monnaro1)</cp:lastModifiedBy>
  <cp:revision>3</cp:revision>
  <dcterms:created xsi:type="dcterms:W3CDTF">2026-05-14T09:39:42Z</dcterms:created>
  <dcterms:modified xsi:type="dcterms:W3CDTF">2026-05-14T11:28:13Z</dcterms:modified>
</cp:coreProperties>
</file>