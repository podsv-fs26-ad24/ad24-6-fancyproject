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8" autoAdjust="0"/>
    <p:restoredTop sz="94610"/>
  </p:normalViewPr>
  <p:slideViewPr>
    <p:cSldViewPr snapToGrid="0" snapToObjects="1">
      <p:cViewPr>
        <p:scale>
          <a:sx n="137" d="100"/>
          <a:sy n="137" d="100"/>
        </p:scale>
        <p:origin x="126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8323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6576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B998B"/>
                </a:solidFill>
              </a:rPr>
              <a:t>DROP Inc  ·  Applied Data Visualisation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10972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Geopolitical Conflict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&amp; Trade Explorer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731520" y="33375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FA3B1"/>
                </a:solidFill>
              </a:rPr>
              <a:t>How war, trade and military spending are connected — and what the data reveals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</a:rPr>
              <a:t>conflict-and-trade-explorer.streamlit.app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301752"/>
          </a:xfrm>
          <a:prstGeom prst="roundRect">
            <a:avLst>
              <a:gd name="adj" fmla="val 15152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TOPIC &amp; GOAL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1B2A"/>
                </a:solidFill>
              </a:rPr>
              <a:t>What </a:t>
            </a:r>
            <a:r>
              <a:rPr lang="en-US" sz="3400" b="1">
                <a:solidFill>
                  <a:srgbClr val="0D1B2A"/>
                </a:solidFill>
              </a:rPr>
              <a:t>we built </a:t>
            </a:r>
            <a:r>
              <a:rPr lang="en-US" sz="3400" b="1" dirty="0">
                <a:solidFill>
                  <a:srgbClr val="0D1B2A"/>
                </a:solidFill>
              </a:rPr>
              <a:t>and why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68580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Data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3035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COW Bilateral Trade · COW War Data · SIPRI Military Expenditure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Three major datasets historically unconnected for analysts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16916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3756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Question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36499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How do military spending, bilateral trade and conflict involvement interact across time for any given country or war?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91640"/>
            <a:ext cx="685800" cy="685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7220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Product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199632" y="2944368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5A73"/>
                </a:solidFill>
              </a:rPr>
              <a:t>A single interactive dashboard: search by State or Conflict, filter by time, explore network and trend views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TARGET GROUP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One tool - two very different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3977640" cy="333756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60020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286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Sarah, 38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26334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998B"/>
                </a:solidFill>
              </a:rPr>
              <a:t>Senior Policy Analyst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30175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2"/>
                </a:solidFill>
              </a:rPr>
              <a:t>Needs: </a:t>
            </a:r>
            <a:r>
              <a:rPr lang="en-US" sz="1200" dirty="0">
                <a:solidFill>
                  <a:srgbClr val="8FA3B1"/>
                </a:solidFill>
              </a:rPr>
              <a:t>instant overview of a conflict for a ministerial briefing
</a:t>
            </a:r>
            <a:r>
              <a:rPr lang="en-US" sz="1200" b="1" dirty="0">
                <a:solidFill>
                  <a:srgbClr val="E8EDF2"/>
                </a:solidFill>
              </a:rPr>
              <a:t>Pain: </a:t>
            </a:r>
            <a:r>
              <a:rPr lang="en-US" sz="1200" dirty="0">
                <a:solidFill>
                  <a:srgbClr val="8FA3B1"/>
                </a:solidFill>
              </a:rPr>
              <a:t>manually merging COW + SIPRI + Comtrade CSVs
</a:t>
            </a:r>
            <a:r>
              <a:rPr lang="en-US" sz="1200" b="1" dirty="0">
                <a:solidFill>
                  <a:srgbClr val="E8EDF2"/>
                </a:solidFill>
              </a:rPr>
              <a:t>Gain: </a:t>
            </a:r>
            <a:r>
              <a:rPr lang="en-US" sz="1200" dirty="0">
                <a:solidFill>
                  <a:srgbClr val="8FA3B1"/>
                </a:solidFill>
              </a:rPr>
              <a:t>a ready-made conflict narrative in minutes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417320"/>
            <a:ext cx="3977640" cy="333756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60020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37760" y="2286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Marco, 31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37760" y="26334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C547"/>
                </a:solidFill>
              </a:rPr>
              <a:t>Investigative Data Journalist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37760" y="301752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DF2"/>
                </a:solidFill>
              </a:rPr>
              <a:t>Needs: </a:t>
            </a:r>
            <a:r>
              <a:rPr lang="en-US" sz="1200" dirty="0">
                <a:solidFill>
                  <a:srgbClr val="8FA3B1"/>
                </a:solidFill>
              </a:rPr>
              <a:t>spot trade anomalies and back stories with hard data
</a:t>
            </a:r>
            <a:r>
              <a:rPr lang="en-US" sz="1200" b="1" dirty="0">
                <a:solidFill>
                  <a:srgbClr val="E8EDF2"/>
                </a:solidFill>
              </a:rPr>
              <a:t>Pain: </a:t>
            </a:r>
            <a:r>
              <a:rPr lang="en-US" sz="1200" dirty="0">
                <a:solidFill>
                  <a:srgbClr val="8FA3B1"/>
                </a:solidFill>
              </a:rPr>
              <a:t>official portals are impossible to navigate without coding
</a:t>
            </a:r>
            <a:r>
              <a:rPr lang="en-US" sz="1200" b="1" dirty="0">
                <a:solidFill>
                  <a:srgbClr val="E8EDF2"/>
                </a:solidFill>
              </a:rPr>
              <a:t>Gain: </a:t>
            </a:r>
            <a:r>
              <a:rPr lang="en-US" sz="1200" dirty="0">
                <a:solidFill>
                  <a:srgbClr val="8FA3B1"/>
                </a:solidFill>
              </a:rPr>
              <a:t>from hypothesis to citable finding — no IT support needed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023360" y="28346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</a:rPr>
              <a:t>VS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301752"/>
          </a:xfrm>
          <a:prstGeom prst="roundRect">
            <a:avLst>
              <a:gd name="adj" fmla="val 15152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NARRATIVE &amp; FEEDBACK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How we tell this story today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1605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BE6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Narrative Approach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🎭 Persona Dramatisation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591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We follow Marco live through the dashboard — his hypothesis drives every click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797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📖 Two-Act Structure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Act 1: Iraq War trade collapse (conflict view)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Act 2: India–Pakistan arms &amp; trade paradox (state view)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4564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🔍 Overview → Zoom → Detail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1246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572"/>
                </a:solidFill>
              </a:rPr>
              <a:t>Each act mirrors the Shneiderman mantra built into the dashboard itself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417320"/>
            <a:ext cx="3977640" cy="3337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493776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We want your feedback on…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2084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① Visual Encoding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34086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Does the trade/military dual-axis chart communicate the correlation clearly, or does it confuse?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76148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② Navigation Flow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0175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Is the State vs. Conflict toggle intuitive for a first-time user?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4381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</a:rPr>
              <a:t>③ Missing Data UX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36941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Are gaps in the data handled transparently enough for academic use?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data exists.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insight doesn't.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FA3B1"/>
                </a:solidFill>
              </a:rPr>
              <a:t>Three major academic datasets - all public, all separate, none designed to talk to each other.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91440" cy="475488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685800" y="3044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COW Bilateral Trade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27355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Trade flows since 1870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91440" cy="475488"/>
          </a:xfrm>
          <a:prstGeom prst="rect">
            <a:avLst/>
          </a:prstGeom>
          <a:solidFill>
            <a:srgbClr val="E8C547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685800" y="363931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COW War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8679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Every interstate war since 1816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4023360" cy="47548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91440" cy="475488"/>
          </a:xfrm>
          <a:prstGeom prst="rect">
            <a:avLst/>
          </a:prstGeom>
          <a:solidFill>
            <a:srgbClr val="7B9EBE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685800" y="423367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SIPRI Military Exp.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6227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Defence budgets post-WWII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0" y="685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998B"/>
                </a:solidFill>
              </a:rPr>
              <a:t>What analysts do today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11887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1.  Download 3 separate CSVs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175564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2.  Manually match country codes (COW ≠ ISO)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232257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3.  Build custom scripts just to join tables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288950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DF2"/>
                </a:solidFill>
              </a:rPr>
              <a:t>4.  Repeat for every new question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0" y="3456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C547"/>
                </a:solidFill>
              </a:rPr>
              <a:t>5.  No time left for actual analysis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1097280"/>
            <a:ext cx="54864" cy="3200400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MEET MARCO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998B"/>
                </a:solidFill>
              </a:rPr>
              <a:t>Marco has a hypothesis.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8321040" cy="1371600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8C547"/>
                </a:solidFill>
              </a:rPr>
              <a:t>ACT 1  ·  IRAQ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27632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“The Gulf War (1990–91) shattered Iraq’s trade network overnight.</a:t>
            </a:r>
            <a:endParaRPr lang="en-US" sz="1700" dirty="0"/>
          </a:p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But which countries actually stayed? And who left first?”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11480" y="2788920"/>
            <a:ext cx="8321040" cy="155448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59436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B998B"/>
                </a:solidFill>
              </a:rPr>
              <a:t>ACT 2  ·  INDIA – PAKISTAN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“Two nuclear rivals. Three wars. A shared border.</a:t>
            </a:r>
            <a:endParaRPr lang="en-US" sz="1700" dirty="0"/>
          </a:p>
          <a:p>
            <a:pPr marL="0" indent="0">
              <a:buNone/>
            </a:pPr>
            <a:r>
              <a:rPr lang="en-US" sz="1700" i="1" dirty="0">
                <a:solidFill>
                  <a:srgbClr val="FFFFFF"/>
                </a:solidFill>
              </a:rPr>
              <a:t>Both are ramping up military spending in the 1990s — but is trade dying too, or doing something unexpected?”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E16097E3-9652-80BD-47A3-831ABE1709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89"/>
          <a:stretch>
            <a:fillRect/>
          </a:stretch>
        </p:blipFill>
        <p:spPr>
          <a:xfrm>
            <a:off x="411480" y="1389888"/>
            <a:ext cx="5683834" cy="2294474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 1 · IRAQ — STEP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Step 1: Find the conflict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411480" y="1097280"/>
            <a:ext cx="5669280" cy="292608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4"/>
          <p:cNvSpPr/>
          <p:nvPr/>
        </p:nvSpPr>
        <p:spPr>
          <a:xfrm>
            <a:off x="502920" y="111556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FA3B1"/>
                </a:solidFill>
              </a:rPr>
              <a:t>● ● ●   conflict-and-trade-explorer.streamlit.app  ·  Conflict Browser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263640" y="1097280"/>
            <a:ext cx="2514600" cy="370332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9" name="Text 6"/>
          <p:cNvSpPr/>
          <p:nvPr/>
        </p:nvSpPr>
        <p:spPr>
          <a:xfrm>
            <a:off x="6446520" y="12618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How Marco uses it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55080" y="171907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Text 8"/>
          <p:cNvSpPr/>
          <p:nvPr/>
        </p:nvSpPr>
        <p:spPr>
          <a:xfrm>
            <a:off x="6355080" y="1719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①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748272" y="17190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Set State A = IRQ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48272" y="192024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Filter the conflict list to only show Iraq's disputes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355080" y="2478024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2"/>
          <p:cNvSpPr/>
          <p:nvPr/>
        </p:nvSpPr>
        <p:spPr>
          <a:xfrm>
            <a:off x="6355080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②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748272" y="2478024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Set State B = KWT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48272" y="26791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Narrow down to direct confrontations between the two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355080" y="3236976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Text 16"/>
          <p:cNvSpPr/>
          <p:nvPr/>
        </p:nvSpPr>
        <p:spPr>
          <a:xfrm>
            <a:off x="6355080" y="3236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③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748272" y="3236976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Adjust year range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48272" y="343814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1988–1994 isolates the Gulf War period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55080" y="3995928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0"/>
          <p:cNvSpPr/>
          <p:nvPr/>
        </p:nvSpPr>
        <p:spPr>
          <a:xfrm>
            <a:off x="6355080" y="3995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④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748272" y="3995928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Pick Conflict #3982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748272" y="419709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The table shows IDs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Marco picks the 1991 entry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1325880"/>
            <a:ext cx="2560320" cy="822960"/>
          </a:xfrm>
          <a:prstGeom prst="rect">
            <a:avLst/>
          </a:prstGeom>
          <a:solidFill>
            <a:srgbClr val="E8C547">
              <a:alpha val="15000"/>
            </a:srgbClr>
          </a:solidFill>
          <a:ln w="1905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C547"/>
                </a:solidFill>
              </a:rPr>
              <a:t>Filter by state pair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 1 · IRAQ — STEP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Step 2: Enter Conflict ID 3982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897880" y="1097280"/>
            <a:ext cx="2880360" cy="3822192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7" name="Text 4"/>
          <p:cNvSpPr/>
          <p:nvPr/>
        </p:nvSpPr>
        <p:spPr>
          <a:xfrm>
            <a:off x="6080760" y="12618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appears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80760" y="17190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Map highlights KWT &amp; IRQ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199339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The two belligerents shown geographically instant orientation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080760" y="2505456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Duration: 1 Year in 1991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080760" y="277977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8FA3B1"/>
                </a:solidFill>
              </a:rPr>
              <a:t>Operation Desert storm liberation of Kuwait through US led coalition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080760" y="329184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Outcome: Stalemate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80760" y="356616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No decisive resolution, conflict severity 65/100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80760" y="4078224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Alliance tables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80760" y="435254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Full list of each state's treaty partners during the conflict</a:t>
            </a:r>
            <a:endParaRPr lang="en-US" sz="1000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3BACE97-E9D5-B9D2-C398-3B14F5A6E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82901"/>
            <a:ext cx="5135596" cy="38533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77440" cy="301752"/>
          </a:xfrm>
          <a:prstGeom prst="roundRect">
            <a:avLst>
              <a:gd name="adj" fmla="val 15152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 1 · IRAQ — FINDING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The trade drops to zero and never recovers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3742757" y="3437760"/>
            <a:ext cx="2286000" cy="457200"/>
          </a:xfrm>
          <a:prstGeom prst="rect">
            <a:avLst/>
          </a:prstGeom>
          <a:solidFill>
            <a:srgbClr val="E8C547">
              <a:alpha val="20000"/>
            </a:srgbClr>
          </a:solidFill>
          <a:ln w="1905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7" name="Text 4"/>
          <p:cNvSpPr/>
          <p:nvPr/>
        </p:nvSpPr>
        <p:spPr>
          <a:xfrm>
            <a:off x="3788477" y="34651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C547"/>
                </a:solidFill>
              </a:rPr>
              <a:t>Trade = 0 from 1991 onward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355080" y="1234440"/>
            <a:ext cx="2423160" cy="3703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9" name="Text 6"/>
          <p:cNvSpPr/>
          <p:nvPr/>
        </p:nvSpPr>
        <p:spPr>
          <a:xfrm>
            <a:off x="6492240" y="138988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Marco's finding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1810512"/>
            <a:ext cx="2148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8FA3B1"/>
                </a:solidFill>
              </a:rPr>
              <a:t>Kuwaits</a:t>
            </a:r>
            <a:r>
              <a:rPr lang="en-US" sz="1100" dirty="0">
                <a:solidFill>
                  <a:srgbClr val="8FA3B1"/>
                </a:solidFill>
              </a:rPr>
              <a:t> military expenditure peaks during the conflict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Kuwait-Iraq trade hits zero in 1991 and flatlines permanently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not a dip, a permanent break.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The red line makes the conflict period unmissable.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This took Marco 3 clicks. Previously: days of CSV work.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92240" y="4224528"/>
            <a:ext cx="2148840" cy="59436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9"/>
          <p:cNvSpPr/>
          <p:nvPr/>
        </p:nvSpPr>
        <p:spPr>
          <a:xfrm>
            <a:off x="6492240" y="422452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998B"/>
                </a:solidFill>
              </a:rPr>
              <a:t>3 clicks → story found</a:t>
            </a:r>
            <a:endParaRPr lang="en-US" sz="130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EA188024-4418-8827-E8F3-11584A4DE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45678"/>
            <a:ext cx="5880259" cy="36920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 2 · INDIA–PAKISTAN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Same tool.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New hypothesis.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" y="1664208"/>
            <a:ext cx="8321040" cy="132588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594360" y="175564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B998B"/>
                </a:solidFill>
              </a:rPr>
              <a:t>ACT 2  ·  IND vs. PAK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029968"/>
            <a:ext cx="7863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</a:rPr>
              <a:t>“India and Pakistan have fought three wars. Both are ramping up military spending in the 1990s.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</a:rPr>
              <a:t>Does trade between them die too or does something unexpected happen?”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3182112"/>
            <a:ext cx="2651760" cy="169164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411480" y="324612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8C547"/>
                </a:solidFill>
              </a:rPr>
              <a:t>3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548640" y="41330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Wars fought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1947 · 1965 · 1971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4408" y="3182112"/>
            <a:ext cx="2651760" cy="169164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264408" y="324612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B998B"/>
                </a:solidFill>
              </a:rPr>
              <a:t>~70%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401568" y="41330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India mil. spend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rise 1988–2000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7336" y="3182112"/>
            <a:ext cx="2651760" cy="169164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117336" y="324612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7B9EBE"/>
                </a:solidFill>
              </a:rPr>
              <a:t>?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254496" y="41330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Bilateral trade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during this period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ACT 2 · INDIA–PAKISTAN — FINDING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Guns AND butter: the paradox</a:t>
            </a:r>
            <a:endParaRPr lang="en-US" sz="3000" dirty="0"/>
          </a:p>
        </p:txBody>
      </p:sp>
      <p:sp>
        <p:nvSpPr>
          <p:cNvPr id="59" name="Shape 57"/>
          <p:cNvSpPr/>
          <p:nvPr/>
        </p:nvSpPr>
        <p:spPr>
          <a:xfrm>
            <a:off x="6172200" y="1261872"/>
            <a:ext cx="2606040" cy="365760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0" name="Text 58"/>
          <p:cNvSpPr/>
          <p:nvPr/>
        </p:nvSpPr>
        <p:spPr>
          <a:xfrm>
            <a:off x="6355080" y="1426464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Marco's finding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355080" y="1947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Both spend more on arms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355080" y="220370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India's military budget doubles from 1993-2004. 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355080" y="267919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Trade was flat - then it wasn't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355080" y="293522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Bilateral trade was near zero until 1995, then starts climbing consistently.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355080" y="341071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Kargil barely dents it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355080" y="366674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Even the 1999 war barely interrupts the trade upturn. Commerce proves resilient.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355080" y="414223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The paradox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355080" y="439826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Guns AND butter. Rivals arm up and trade up simultaneously.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172200" y="4352544"/>
            <a:ext cx="2606040" cy="566928"/>
          </a:xfrm>
          <a:prstGeom prst="rect">
            <a:avLst/>
          </a:prstGeom>
          <a:solidFill>
            <a:srgbClr val="0A1520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0" name="Text 68"/>
          <p:cNvSpPr/>
          <p:nvPr/>
        </p:nvSpPr>
        <p:spPr>
          <a:xfrm>
            <a:off x="6263640" y="4398264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C547"/>
                </a:solidFill>
              </a:rPr>
              <a:t>Same tool. Opposite story to Iraq.</a:t>
            </a:r>
            <a:endParaRPr lang="en-US" sz="1100" dirty="0"/>
          </a:p>
        </p:txBody>
      </p:sp>
      <p:pic>
        <p:nvPicPr>
          <p:cNvPr id="72" name="Grafik 71">
            <a:extLst>
              <a:ext uri="{FF2B5EF4-FFF2-40B4-BE49-F238E27FC236}">
                <a16:creationId xmlns:a16="http://schemas.microsoft.com/office/drawing/2014/main" id="{034DCE76-11C4-40FA-277D-95CF0225D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628" y="1261872"/>
            <a:ext cx="574713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UNDER THE HOOD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the dashboard is built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998B"/>
                </a:solidFill>
              </a:rPr>
              <a:t>COW Trade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B998B"/>
                </a:solidFill>
              </a:rPr>
              <a:t>CSV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45920" y="15087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FA3B1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182880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C547"/>
                </a:solidFill>
              </a:rPr>
              <a:t>COW Wars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8C547"/>
                </a:solidFill>
              </a:rPr>
              <a:t>CSV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1508760"/>
            <a:ext cx="18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FA3B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1371600"/>
            <a:ext cx="123444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246120" y="141732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B9EBE"/>
                </a:solidFill>
              </a:rPr>
              <a:t>SIPRI Mil.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7B9EBE"/>
                </a:solidFill>
              </a:rPr>
              <a:t>Expenditure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194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3B1"/>
                </a:solidFill>
              </a:rPr>
              <a:t>↓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80160" y="2606040"/>
            <a:ext cx="1828800" cy="68580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1280160" y="262432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998B"/>
                </a:solidFill>
              </a:rPr>
              <a:t>Data Cleaning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998B"/>
                </a:solidFill>
              </a:rPr>
              <a:t>&amp; Entity Matching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3337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3B1"/>
                </a:solidFill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280160" y="3749040"/>
            <a:ext cx="1828800" cy="594360"/>
          </a:xfrm>
          <a:prstGeom prst="rect">
            <a:avLst/>
          </a:prstGeom>
          <a:solidFill>
            <a:srgbClr val="1C3A52"/>
          </a:solidFill>
          <a:ln w="12700">
            <a:solidFill>
              <a:srgbClr val="7B9EB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1280160" y="37947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9EBE"/>
                </a:solidFill>
              </a:rPr>
              <a:t>Parquet / Cache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54680" y="3931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B1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566160" y="3657600"/>
            <a:ext cx="1737360" cy="777240"/>
          </a:xfrm>
          <a:prstGeom prst="rect">
            <a:avLst/>
          </a:prstGeom>
          <a:solidFill>
            <a:srgbClr val="1C3A52"/>
          </a:solidFill>
          <a:ln w="12700">
            <a:solidFill>
              <a:srgbClr val="E8C547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3566160" y="3675888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C547"/>
                </a:solidFill>
              </a:rPr>
              <a:t>Streamlit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E8C547"/>
                </a:solidFill>
              </a:rPr>
              <a:t>Dashboard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94960" y="1325880"/>
            <a:ext cx="3383280" cy="342900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5577840" y="146304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Key Engineering Challenges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77840" y="196596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Entity Matching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2219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COW State Codes → ISO country codes, required custom mapping table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267004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Temporal Mismatch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SIPRI starts post-WWII; COW trade goes from 1816 to 2014 triad only possible for overlapping years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337413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Performance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77840" y="36301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Large bilateral CSVs cached as Parquet; reactive filters avoid full reloads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407822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998B"/>
                </a:solidFill>
              </a:rPr>
              <a:t>▸ Missing Data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77840" y="433425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Gaps clearly flagged in UI academic honesty over false completeness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Try it yourself.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828800" y="2103120"/>
            <a:ext cx="5486400" cy="822960"/>
          </a:xfrm>
          <a:prstGeom prst="rect">
            <a:avLst/>
          </a:prstGeom>
          <a:solidFill>
            <a:srgbClr val="1C3A52"/>
          </a:solidFill>
          <a:ln w="12700">
            <a:solidFill>
              <a:srgbClr val="1B998B"/>
            </a:solidFill>
            <a:prstDash val="solid"/>
          </a:ln>
          <a:effectLst>
            <a:outerShdw blurRad="1270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18288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998B"/>
                </a:solidFill>
              </a:rPr>
              <a:t>🔗  conflict-and-trade-explorer.streamlit.app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</a:rPr>
              <a:t>COW Bilateral Trade · COW War Data · SIPRI Military Expenditure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3657600"/>
            <a:ext cx="6400800" cy="960120"/>
          </a:xfrm>
          <a:prstGeom prst="rect">
            <a:avLst/>
          </a:prstGeom>
          <a:solidFill>
            <a:srgbClr val="1C3A52"/>
          </a:solidFill>
          <a:ln w="12700">
            <a:solidFill>
              <a:srgbClr val="1C3A52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1508760" y="37033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DF2"/>
                </a:solidFill>
              </a:rPr>
              <a:t>We'd love your feedback on: 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E8EDF2"/>
                </a:solidFill>
              </a:rPr>
              <a:t>Visual encoding clarity · Navigation intuitiveness · Missing data transparency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DROP Inc  ·  Applied Data Visualisation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</Words>
  <Application>Microsoft Office PowerPoint</Application>
  <PresentationFormat>Bildschirmpräsentation (16:9)</PresentationFormat>
  <Paragraphs>179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Geopolitical Conflict &amp; Trade Explorer</dc:title>
  <dc:subject>PptxGenJS Presentation</dc:subject>
  <dc:creator>PptxGenJS</dc:creator>
  <cp:lastModifiedBy>Monn Aron (monnaro1)</cp:lastModifiedBy>
  <cp:revision>4</cp:revision>
  <dcterms:created xsi:type="dcterms:W3CDTF">2026-05-16T09:10:27Z</dcterms:created>
  <dcterms:modified xsi:type="dcterms:W3CDTF">2026-05-16T09:50:31Z</dcterms:modified>
</cp:coreProperties>
</file>